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97a898b-9672-9385-163f-8ff28cedd9ad}">
          <p14:sldIdLst>
            <p14:sldId id="256"/>
          </p14:sldIdLst>
        </p14:section>
        <p14:section name="Problem" id="{fb9c9836-5ea9-349a-70d9-0639f2cfc918}">
          <p14:sldIdLst>
            <p14:sldId id="257"/>
            <p14:sldId id="258"/>
            <p14:sldId id="259"/>
          </p14:sldIdLst>
        </p14:section>
        <p14:section name="Solution" id="{fa0b5b22-566b-3006-c9e9-8600059c600a}">
          <p14:sldIdLst>
            <p14:sldId id="260"/>
            <p14:sldId id="261"/>
          </p14:sldIdLst>
        </p14:section>
        <p14:section name="Design" id="{067c312f-4272-cd2f-3eb5-7c3f0f6d422a}">
          <p14:sldIdLst>
            <p14:sldId id="262"/>
            <p14:sldId id="263"/>
          </p14:sldIdLst>
        </p14:section>
        <p14:section name="Delivery" id="{d252e229-7ef5-012d-0573-960d7fd83d3c}">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F3A"/>
                </a:solidFill>
                <a:latin typeface="+mn-lt"/>
              </a:defRPr>
            </a:pPr>
            <a:r>
              <a:rPr sz="1100" b="0" i="0" u="none" strike="noStrike">
                <a:solidFill>
                  <a:srgbClr val="1A1F3A"/>
                </a:solidFill>
                <a:latin typeface="+mn-lt"/>
              </a:rPr>
              <a:t>One update (KB), 20K-number model</a:t>
            </a:r>
          </a:p>
        </c:rich>
      </c:tx>
      <c:layout/>
      <c:overlay val="0"/>
    </c:title>
    <c:autoTitleDeleted val="0"/>
    <c:plotArea>
      <c:layout/>
      <c:barChart>
        <c:barDir val="bar"/>
        <c:grouping val="clustered"/>
        <c:varyColors val="0"/>
        <c:ser>
          <c:idx val="0"/>
          <c:order val="0"/>
          <c:tx>
            <c:strRef>
              <c:f>Sheet1!$B$1</c:f>
              <c:strCache>
                <c:ptCount val="1"/>
                <c:pt idx="0">
                  <c:v>KB per update</c:v>
                </c:pt>
              </c:strCache>
            </c:strRef>
          </c:tx>
          <c:spPr>
            <a:solidFill>
              <a:srgbClr val="6B7194"/>
            </a:solidFill>
            <a:effectLst/>
          </c:spPr>
          <c:invertIfNegative val="0"/>
          <c:dLbls>
            <c:numFmt formatCode="#,##0.0" sourceLinked="0"/>
            <c:txPr>
              <a:bodyPr/>
              <a:lstStyle/>
              <a:p>
                <a:pPr>
                  <a:defRPr b="0" i="0" strike="noStrike" sz="1000" u="none">
                    <a:solidFill>
                      <a:srgbClr val="1A1F3A"/>
                    </a:solidFill>
                    <a:latin typeface="+mn-lt"/>
                  </a:defRPr>
                </a:pPr>
              </a:p>
            </c:txPr>
            <c:showLegendKey val="0"/>
            <c:showVal val="1"/>
            <c:showCatName val="0"/>
            <c:showSerName val="0"/>
            <c:showPercent val="0"/>
            <c:showBubbleSize val="0"/>
            <c:showLeaderLines val="0"/>
          </c:dLbls>
          <c:dPt>
            <c:idx val="0"/>
            <c:invertIfNegative val="0"/>
            <c:bubble3D val="0"/>
            <c:spPr>
              <a:solidFill>
                <a:srgbClr val="6B7194"/>
              </a:solidFill>
              <a:effectLst/>
            </c:spPr>
          </c:dPt>
          <c:dPt>
            <c:idx val="1"/>
            <c:invertIfNegative val="0"/>
            <c:bubble3D val="0"/>
            <c:spPr>
              <a:solidFill>
                <a:srgbClr val="6B7194"/>
              </a:solidFill>
              <a:effectLst/>
            </c:spPr>
          </c:dPt>
          <c:dPt>
            <c:idx val="2"/>
            <c:invertIfNegative val="0"/>
            <c:bubble3D val="0"/>
            <c:spPr>
              <a:solidFill>
                <a:srgbClr val="1020C8"/>
              </a:solidFill>
              <a:effectLst/>
            </c:spPr>
          </c:dPt>
          <c:dPt>
            <c:idx val="3"/>
            <c:invertIfNegative val="0"/>
            <c:bubble3D val="0"/>
            <c:spPr>
              <a:solidFill>
                <a:srgbClr val="1020C8"/>
              </a:solidFill>
              <a:effectLst/>
            </c:spPr>
          </c:dPt>
          <c:cat>
            <c:multiLvlStrRef>
              <c:f>Sheet1!$A$2:$A$5</c:f>
              <c:multiLvlStrCache>
                <c:ptCount val="4"/>
                <c:lvl>
                  <c:pt idx="0">
                    <c:v>Full (32-bit)</c:v>
                  </c:pt>
                  <c:pt idx="1">
                    <c:v>Dense 8-bit</c:v>
                  </c:pt>
                  <c:pt idx="2">
                    <c:v>Balanced</c:v>
                  </c:pt>
                  <c:pt idx="3">
                    <c:v>Sparse</c:v>
                  </c:pt>
                </c:lvl>
              </c:multiLvlStrCache>
            </c:multiLvlStrRef>
          </c:cat>
          <c:val>
            <c:numRef>
              <c:f>Sheet1!$B$2:$B$5</c:f>
              <c:numCache>
                <c:formatCode>General</c:formatCode>
                <c:ptCount val="4"/>
                <c:pt idx="0">
                  <c:v>80</c:v>
                </c:pt>
                <c:pt idx="1">
                  <c:v>20</c:v>
                </c:pt>
                <c:pt idx="2">
                  <c:v>2.5</c:v>
                </c:pt>
                <c:pt idx="3">
                  <c:v>0.4</c:v>
                </c:pt>
              </c:numCache>
            </c:numRef>
          </c:val>
        </c:ser>
        <c:dLbls>
          <c:numFmt formatCode="#,##0.0" sourceLinked="0"/>
          <c:txPr>
            <a:bodyPr/>
            <a:lstStyle/>
            <a:p>
              <a:pPr>
                <a:defRPr b="0" i="0" strike="noStrike" sz="1000" u="none">
                  <a:solidFill>
                    <a:srgbClr val="1A1F3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A1F3A"/>
                </a:solidFill>
                <a:latin typeface="+mn-lt"/>
              </a:defRPr>
            </a:pPr>
            <a:endParaRPr lang="en-US"/>
          </a:p>
        </c:txPr>
        <c:crossAx val="2094734552"/>
        <c:crosses val="autoZero"/>
        <c:auto val="1"/>
        <c:lblAlgn val="ctr"/>
        <c:noMultiLvlLbl val="1"/>
      </c:catAx>
      <c:valAx>
        <c:axId val="2094734552"/>
        <c:scaling>
          <c:orientation val="minMax"/>
          <c:max val="10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Team Solve X and problem PS-003. Our solution, CityPulse-Audit: each junction forecasts traffic locally and only sends a learning update when it is tested as useful and fits a byte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 cities have many sensors at junctions. Sending all raw data to one place is a privacy risk and costs a lot of network bandwidth, yet the city still needs fresh forecasts every few minutes. Our goal: forecast well, keep raw data local, and send as few bytes as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 way: every sensor sends raw data to the cloud. Federated way: each junction trains on its own data and only sends a small update; the server combines updates and sends back a better model. Our twist: we also decide whether an update is worth sending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build on proven pieces: federated averaging, sparse updates with error memory, strong traffic models, and standard secure protocols. Our focus is different: most work makes updates smaller; we also test whether an update is worth sending and we log every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CityPulse-Audit has five parts. 1: each junction predicts locally with a simple baseline plus a tiny GRU and a private tweak; only the tiny GRU is shared. 2: neighbours swap tiny forecast hints (2 to 3 numbers) that expire quickly. 3: a junction wakes up only when its error keeps rising, makes three compressed versions of its update and tests them on recent local data. 4: the server ranks offers by gain per byte, keeps space for overdue junctions and admits updates within a byte budget. 5: a byte ledger records every message so the results are honest. Evaluation uses MAE, RMSE, MAPE and total bytes against fair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before and after. Standard federated learning sends the full model every round. We send small compressed changes, only when surprised or overdue, after testing that the update helps. Right: the size of one update for a 20,000-number model (calculated), and the data per day for 300 junctions with full-precision FedAvg (about 13.8 GB) versus our target of at least 20 times less. This is a target to be measured, not a result. Bottom: six runs are compared with the same model, data split and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swimlane diagram shows the architecture and the optimization process together. Top lane, the edge node at the junction: data arrives; if the error keeps rising the node trains a little and makes three compressed sizes, tests each on recent local data, and sends a tiny offer only if the gain is worth the bytes. Otherwise it stays quiet or tries later. Bottom lane, the cloud coordinator: it ranks offers by gain per byte, keeps space for overdue junctions, admits updates within the budget, merges them into a new model version and sends the update back. An optional regional gateway can merge updates before the long link. The byte ledger records every message and the dashboard reads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dashed private zone, sensor data feeds the forecaster and the local history store. Raw data never crosses the dashed line. Only four things cross: forecast hints to neighbours, offers and compressed updates to the server, and admit or defer decisions with new models coming back. The server stores model versions and writes every message size to the byte ledger, which feeds the dashboard. The step-by-step flowchart is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 suggested 48-hour build plan; stages 1 to 5 contain the whole core contribution, so if time runs short we stop after stage 5. Right: after the hackathon we replay saved data, run a shadow pilot that only predicts on one corridor of 5 to 8 junctions, then grow to a district. Live demo plan: quiet traffic, then an injected incident, then a throttled network link, then the final chart of error versus total bytes for all six runs. Known limits: local gain may not equal city-wide gain, busy junctions may dominate, and all savings are targets until measured. Adjust the hours to your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for the ideas, models and standards used in this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judges. Repeat the one-line pitch: we do not send an update because traffic changed; we test whether the update helps, admit it under a byte budget, and prove the accuracy versus bandwidth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FRAM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28032"/>
            <a:ext cx="5486400" cy="228600"/>
          </a:xfrm>
          <a:prstGeom prst="rect">
            <a:avLst/>
          </a:prstGeom>
          <a:noFill/>
          <a:ln/>
        </p:spPr>
        <p:txBody>
          <a:bodyPr wrap="square" lIns="0" tIns="0" rIns="0" bIns="0" rtlCol="0" anchor="ctr"/>
          <a:lstStyle/>
          <a:p>
            <a:pPr indent="0" marL="0">
              <a:buNone/>
            </a:pPr>
            <a:r>
              <a:rPr lang="en-US" sz="1000" dirty="0">
                <a:solidFill>
                  <a:schemeClr val="accent1"/>
                </a:solidFill>
              </a:rPr>
              <a:t>Solve X  •  PS-003  •  October 2026</a:t>
            </a:r>
            <a:endParaRPr lang="en-US" sz="1000" dirty="0"/>
          </a:p>
        </p:txBody>
      </p:sp>
      <p:sp>
        <p:nvSpPr>
          <p:cNvPr id="3" name="Text 1"/>
          <p:cNvSpPr txBox="1"/>
          <p:nvPr/>
        </p:nvSpPr>
        <p:spPr>
          <a:xfrm>
            <a:off x="8522208" y="4828032"/>
            <a:ext cx="365760" cy="228600"/>
          </a:xfrm>
          <a:prstGeom prst="rect">
            <a:avLst/>
          </a:prstGeom>
          <a:noFill/>
          <a:ln/>
        </p:spPr>
        <p:txBody>
          <a:bodyPr wrap="square" lIns="0" tIns="0" rIns="0" bIns="0" rtlCol="0" anchor="ctr"/>
          <a:lstStyle/>
          <a:p>
            <a:pPr indent="0" marL="0">
              <a:buNone/>
            </a:pPr>
            <a:r>
              <a:rPr lang="en-US" sz="1000" dirty="0">
                <a:solidFill>
                  <a:schemeClr val="accent6"/>
                </a:solidFill>
              </a:rPr>
              <a:t>/ 11</a:t>
            </a:r>
            <a:endParaRPr lang="en-US" sz="1000" dirty="0"/>
          </a:p>
        </p:txBody>
      </p:sp>
      <p:sp>
        <p:nvSpPr>
          <p:cNvPr id="4" name="Text 2"/>
          <p:cNvSpPr/>
          <p:nvPr>
            <p:ph idx="102" type="title" hasCustomPrompt="1"/>
          </p:nvPr>
        </p:nvSpPr>
        <p:spPr>
          <a:xfrm>
            <a:off x="457200" y="347472"/>
            <a:ext cx="8229600" cy="566928"/>
          </a:xfrm>
          <a:prstGeom prst="rect">
            <a:avLst/>
          </a:prstGeom>
          <a:noFill/>
          <a:ln/>
        </p:spPr>
        <p:txBody>
          <a:bodyPr wrap="square" rtlCol="0"/>
          <a:lstStyle>
            <a:lvl1pPr algn="l" indent="0" marL="0">
              <a:buNone/>
              <a:defRPr lang="en-US" sz="3200" b="1" dirty="0">
                <a:solidFill>
                  <a:schemeClr val="accent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7845552" y="4828032"/>
            <a:ext cx="658368"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845552" y="4828032"/>
            <a:ext cx="658368"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jp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erial view of a city intersection with glowing network lines">    </p:cNvPr>
          <p:cNvPicPr>
            <a:picLocks noChangeAspect="1"/>
          </p:cNvPicPr>
          <p:nvPr/>
        </p:nvPicPr>
        <p:blipFill>
          <a:blip r:embed="rId1"/>
          <a:stretch>
            <a:fillRect/>
          </a:stretch>
        </p:blipFill>
        <p:spPr>
          <a:xfrm>
            <a:off x="5486400" y="0"/>
            <a:ext cx="3657600" cy="5143500"/>
          </a:xfrm>
          <a:prstGeom prst="rect">
            <a:avLst/>
          </a:prstGeom>
        </p:spPr>
      </p:pic>
      <p:pic>
        <p:nvPicPr>
          <p:cNvPr id="3" name="Image 1" descr="AIORI logo">    </p:cNvPr>
          <p:cNvPicPr>
            <a:picLocks noChangeAspect="1"/>
          </p:cNvPicPr>
          <p:nvPr/>
        </p:nvPicPr>
        <p:blipFill>
          <a:blip r:embed="rId2"/>
          <a:stretch>
            <a:fillRect/>
          </a:stretch>
        </p:blipFill>
        <p:spPr>
          <a:xfrm>
            <a:off x="457200" y="411480"/>
            <a:ext cx="868680" cy="859536"/>
          </a:xfrm>
          <a:prstGeom prst="rect">
            <a:avLst/>
          </a:prstGeom>
        </p:spPr>
      </p:pic>
      <p:sp>
        <p:nvSpPr>
          <p:cNvPr id="4" name="text-1"/>
          <p:cNvSpPr txBox="1"/>
          <p:nvPr/>
        </p:nvSpPr>
        <p:spPr>
          <a:xfrm>
            <a:off x="457200" y="1463040"/>
            <a:ext cx="4754880" cy="731520"/>
          </a:xfrm>
          <a:prstGeom prst="rect">
            <a:avLst/>
          </a:prstGeom>
          <a:noFill/>
          <a:ln/>
        </p:spPr>
        <p:txBody>
          <a:bodyPr wrap="square" lIns="0" tIns="0" rIns="0" bIns="0" rtlCol="0" anchor="ctr"/>
          <a:lstStyle/>
          <a:p>
            <a:pPr algn="l" indent="0" marL="0">
              <a:buNone/>
            </a:pPr>
            <a:r>
              <a:rPr lang="en-US" sz="4400" b="1" dirty="0">
                <a:solidFill>
                  <a:schemeClr val="accent1"/>
                </a:solidFill>
              </a:rPr>
              <a:t>PS-003</a:t>
            </a:r>
            <a:endParaRPr lang="en-US" sz="4400" dirty="0"/>
          </a:p>
        </p:txBody>
      </p:sp>
      <p:sp>
        <p:nvSpPr>
          <p:cNvPr id="5" name="text-2"/>
          <p:cNvSpPr txBox="1"/>
          <p:nvPr/>
        </p:nvSpPr>
        <p:spPr>
          <a:xfrm>
            <a:off x="457200" y="2240280"/>
            <a:ext cx="4754880" cy="868680"/>
          </a:xfrm>
          <a:prstGeom prst="rect">
            <a:avLst/>
          </a:prstGeom>
          <a:noFill/>
          <a:ln/>
        </p:spPr>
        <p:txBody>
          <a:bodyPr wrap="square" lIns="0" tIns="0" rIns="0" bIns="0" rtlCol="0" anchor="t"/>
          <a:lstStyle/>
          <a:p>
            <a:pPr algn="l" indent="0" marL="0">
              <a:buNone/>
            </a:pPr>
            <a:r>
              <a:rPr lang="en-US" sz="2000" dirty="0">
                <a:solidFill>
                  <a:schemeClr val="tx1"/>
                </a:solidFill>
              </a:rPr>
              <a:t>Federated Traffic-Flow Prediction with Communication-Cost Evaluation</a:t>
            </a:r>
            <a:endParaRPr lang="en-US" sz="2000" dirty="0"/>
          </a:p>
        </p:txBody>
      </p:sp>
      <p:sp>
        <p:nvSpPr>
          <p:cNvPr id="6" name="text-3"/>
          <p:cNvSpPr txBox="1"/>
          <p:nvPr/>
        </p:nvSpPr>
        <p:spPr>
          <a:xfrm>
            <a:off x="457200" y="3200400"/>
            <a:ext cx="4754880" cy="320040"/>
          </a:xfrm>
          <a:prstGeom prst="rect">
            <a:avLst/>
          </a:prstGeom>
          <a:noFill/>
          <a:ln/>
        </p:spPr>
        <p:txBody>
          <a:bodyPr wrap="square" lIns="0" tIns="0" rIns="0" bIns="0" rtlCol="0" anchor="t"/>
          <a:lstStyle/>
          <a:p>
            <a:pPr algn="l" indent="0" marL="0">
              <a:buNone/>
            </a:pPr>
            <a:r>
              <a:rPr lang="en-US" sz="1600" b="1" dirty="0">
                <a:solidFill>
                  <a:schemeClr val="tx2"/>
                </a:solidFill>
              </a:rPr>
              <a:t>Our solution: CityPulse-Audit</a:t>
            </a:r>
            <a:endParaRPr lang="en-US" sz="1600" dirty="0"/>
          </a:p>
        </p:txBody>
      </p:sp>
      <p:sp>
        <p:nvSpPr>
          <p:cNvPr id="7" name="text-4"/>
          <p:cNvSpPr txBox="1"/>
          <p:nvPr/>
        </p:nvSpPr>
        <p:spPr>
          <a:xfrm>
            <a:off x="457200" y="3703320"/>
            <a:ext cx="4754880" cy="274320"/>
          </a:xfrm>
          <a:prstGeom prst="rect">
            <a:avLst/>
          </a:prstGeom>
          <a:noFill/>
          <a:ln/>
        </p:spPr>
        <p:txBody>
          <a:bodyPr wrap="square" lIns="0" tIns="0" rIns="0" bIns="0" rtlCol="0" anchor="t"/>
          <a:lstStyle/>
          <a:p>
            <a:pPr algn="l" indent="0" marL="0">
              <a:buNone/>
            </a:pPr>
            <a:r>
              <a:rPr lang="en-US" sz="1400" b="1" dirty="0">
                <a:solidFill>
                  <a:schemeClr val="tx1"/>
                </a:solidFill>
              </a:rPr>
              <a:t>Team Solve X</a:t>
            </a:r>
            <a:endParaRPr lang="en-US" sz="1400" dirty="0"/>
          </a:p>
        </p:txBody>
      </p:sp>
      <p:sp>
        <p:nvSpPr>
          <p:cNvPr id="8" name="text-5"/>
          <p:cNvSpPr txBox="1"/>
          <p:nvPr/>
        </p:nvSpPr>
        <p:spPr>
          <a:xfrm>
            <a:off x="457200" y="3977640"/>
            <a:ext cx="4754880" cy="274320"/>
          </a:xfrm>
          <a:prstGeom prst="rect">
            <a:avLst/>
          </a:prstGeom>
          <a:noFill/>
          <a:ln/>
        </p:spPr>
        <p:txBody>
          <a:bodyPr wrap="square" lIns="0" tIns="0" rIns="0" bIns="0" rtlCol="0" anchor="t"/>
          <a:lstStyle/>
          <a:p>
            <a:pPr algn="l" indent="0" marL="0">
              <a:buNone/>
            </a:pPr>
            <a:r>
              <a:rPr lang="en-US" sz="1400" b="1" dirty="0">
                <a:solidFill>
                  <a:schemeClr val="tx1"/>
                </a:solidFill>
              </a:rPr>
              <a:t>omabhinav4@gmail.com</a:t>
            </a:r>
            <a:endParaRPr lang="en-US" sz="1400" dirty="0"/>
          </a:p>
        </p:txBody>
      </p:sp>
      <p:sp>
        <p:nvSpPr>
          <p:cNvPr id="9" name="text-6"/>
          <p:cNvSpPr txBox="1"/>
          <p:nvPr/>
        </p:nvSpPr>
        <p:spPr>
          <a:xfrm>
            <a:off x="457200" y="4315968"/>
            <a:ext cx="4754880" cy="228600"/>
          </a:xfrm>
          <a:prstGeom prst="rect">
            <a:avLst/>
          </a:prstGeom>
          <a:noFill/>
          <a:ln/>
        </p:spPr>
        <p:txBody>
          <a:bodyPr wrap="square" lIns="0" tIns="0" rIns="0" bIns="0" rtlCol="0" anchor="t"/>
          <a:lstStyle/>
          <a:p>
            <a:pPr algn="l" indent="0" marL="0">
              <a:buNone/>
            </a:pPr>
            <a:r>
              <a:rPr lang="en-US" sz="1200" dirty="0">
                <a:solidFill>
                  <a:schemeClr val="tx1"/>
                </a:solidFill>
              </a:rPr>
              <a:t>AIORI Hackathon 3</a:t>
            </a:r>
            <a:endParaRPr lang="en-US" sz="1200" dirty="0"/>
          </a:p>
        </p:txBody>
      </p:sp>
      <p:sp>
        <p:nvSpPr>
          <p:cNvPr id="10" name="text-7"/>
          <p:cNvSpPr txBox="1"/>
          <p:nvPr/>
        </p:nvSpPr>
        <p:spPr>
          <a:xfrm>
            <a:off x="457200" y="4572000"/>
            <a:ext cx="4754880" cy="228600"/>
          </a:xfrm>
          <a:prstGeom prst="rect">
            <a:avLst/>
          </a:prstGeom>
          <a:noFill/>
          <a:ln/>
        </p:spPr>
        <p:txBody>
          <a:bodyPr wrap="square" lIns="0" tIns="0" rIns="0" bIns="0" rtlCol="0" anchor="t"/>
          <a:lstStyle/>
          <a:p>
            <a:pPr algn="l" indent="0" marL="0">
              <a:buNone/>
            </a:pPr>
            <a:r>
              <a:rPr lang="en-US" sz="1200" dirty="0">
                <a:solidFill>
                  <a:schemeClr val="tx1"/>
                </a:solidFill>
              </a:rPr>
              <a:t>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header-label"/>
          <p:cNvSpPr txBox="1"/>
          <p:nvPr/>
        </p:nvSpPr>
        <p:spPr>
          <a:xfrm>
            <a:off x="2286000" y="91440"/>
            <a:ext cx="4572000" cy="228600"/>
          </a:xfrm>
          <a:prstGeom prst="rect">
            <a:avLst/>
          </a:prstGeom>
          <a:noFill/>
          <a:ln/>
        </p:spPr>
        <p:txBody>
          <a:bodyPr wrap="square" lIns="0" tIns="0" rIns="0" bIns="0" rtlCol="0" anchor="ctr"/>
          <a:lstStyle/>
          <a:p>
            <a:pPr algn="ctr" indent="0" marL="0">
              <a:buNone/>
            </a:pPr>
            <a:r>
              <a:rPr lang="en-US" sz="1000" b="1" dirty="0">
                <a:solidFill>
                  <a:schemeClr val="accent1"/>
                </a:solidFill>
              </a:rPr>
              <a:t>AIORI 3</a:t>
            </a:r>
            <a:pPr algn="ctr" indent="0" marL="0">
              <a:buNone/>
            </a:pPr>
            <a:r>
              <a:rPr lang="en-US" sz="1000" dirty="0">
                <a:solidFill>
                  <a:schemeClr val="accent1"/>
                </a:solidFill>
              </a:rPr>
              <a:t>     Abstract</a:t>
            </a:r>
            <a:endParaRPr lang="en-US" sz="1000" dirty="0"/>
          </a:p>
        </p:txBody>
      </p:sp>
      <p:sp>
        <p:nvSpPr>
          <p:cNvPr id="3" name="Text 2"/>
          <p:cNvSpPr/>
          <p:nvPr>
            <p:ph idx="102" type="title" hasCustomPrompt="1"/>
          </p:nvPr>
        </p:nvSpPr>
        <p:spPr>
          <a:xfrm>
            <a:off x="457200" y="347472"/>
            <a:ext cx="8229600" cy="566928"/>
          </a:xfrm>
          <a:prstGeom prst="rect">
            <a:avLst/>
          </a:prstGeom>
          <a:noFill/>
          <a:ln/>
        </p:spPr>
        <p:txBody>
          <a:bodyPr wrap="square" lIns="0" tIns="0" rIns="0" bIns="0" rtlCol="0" anchor="ctr"/>
          <a:lstStyle/>
          <a:p>
            <a:pPr algn="l" indent="0" marL="0">
              <a:buNone/>
            </a:pPr>
            <a:r>
              <a:rPr lang="en-US" sz="3200" b="1" dirty="0">
                <a:solidFill>
                  <a:schemeClr val="accent1"/>
                </a:solidFill>
              </a:rPr>
              <a:t>Problem Description</a:t>
            </a:r>
            <a:endParaRPr lang="en-US" sz="3200" dirty="0"/>
          </a:p>
        </p:txBody>
      </p:sp>
      <p:sp>
        <p:nvSpPr>
          <p:cNvPr id="5" name="node-8"/>
          <p:cNvSpPr txBox="1"/>
          <p:nvPr/>
        </p:nvSpPr>
        <p:spPr>
          <a:xfrm>
            <a:off x="457200" y="1097280"/>
            <a:ext cx="4480560" cy="822960"/>
          </a:xfrm>
          <a:prstGeom prst="roundRect">
            <a:avLst>
              <a:gd name="adj" fmla="val 8889"/>
            </a:avLst>
          </a:prstGeom>
          <a:solidFill>
            <a:schemeClr val="bg2"/>
          </a:solidFill>
          <a:ln/>
        </p:spPr>
        <p:txBody>
          <a:bodyPr wrap="square" lIns="635" tIns="635" rIns="635" bIns="635" rtlCol="0" anchor="ctr"/>
          <a:lstStyle/>
          <a:p>
            <a:pPr algn="ctr" indent="0" marL="0">
              <a:buNone/>
            </a:pPr>
            <a:endParaRPr lang="en-US" sz="1200" dirty="0"/>
          </a:p>
        </p:txBody>
      </p:sp>
      <p:sp>
        <p:nvSpPr>
          <p:cNvPr id="6" name="iconbg-9"/>
          <p:cNvSpPr/>
          <p:nvPr/>
        </p:nvSpPr>
        <p:spPr>
          <a:xfrm>
            <a:off x="594360" y="1234440"/>
            <a:ext cx="548640" cy="548640"/>
          </a:xfrm>
          <a:prstGeom prst="ellipse">
            <a:avLst/>
          </a:prstGeom>
          <a:solidFill>
            <a:schemeClr val="accent1"/>
          </a:solidFill>
          <a:ln/>
        </p:spPr>
      </p:sp>
      <p:pic>
        <p:nvPicPr>
          <p:cNvPr id="7" name="Image 0" descr="Lock icon">    </p:cNvPr>
          <p:cNvPicPr>
            <a:picLocks noChangeAspect="1"/>
          </p:cNvPicPr>
          <p:nvPr/>
        </p:nvPicPr>
        <p:blipFill>
          <a:blip r:embed="rId1"/>
          <a:stretch>
            <a:fillRect/>
          </a:stretch>
        </p:blipFill>
        <p:spPr>
          <a:xfrm>
            <a:off x="731520" y="1371600"/>
            <a:ext cx="274320" cy="274320"/>
          </a:xfrm>
          <a:prstGeom prst="rect">
            <a:avLst/>
          </a:prstGeom>
        </p:spPr>
      </p:pic>
      <p:sp>
        <p:nvSpPr>
          <p:cNvPr id="8" name="text-10"/>
          <p:cNvSpPr txBox="1"/>
          <p:nvPr/>
        </p:nvSpPr>
        <p:spPr>
          <a:xfrm>
            <a:off x="1325880" y="1207008"/>
            <a:ext cx="3474720" cy="274320"/>
          </a:xfrm>
          <a:prstGeom prst="rect">
            <a:avLst/>
          </a:prstGeom>
          <a:noFill/>
          <a:ln/>
        </p:spPr>
        <p:txBody>
          <a:bodyPr wrap="square" lIns="0" tIns="0" rIns="0" bIns="0" rtlCol="0" anchor="t"/>
          <a:lstStyle/>
          <a:p>
            <a:pPr algn="l" indent="0" marL="0">
              <a:buNone/>
            </a:pPr>
            <a:r>
              <a:rPr lang="en-US" sz="1600" b="1" dirty="0">
                <a:solidFill>
                  <a:schemeClr val="tx1"/>
                </a:solidFill>
              </a:rPr>
              <a:t>Raw data is private</a:t>
            </a:r>
            <a:endParaRPr lang="en-US" sz="1600" dirty="0"/>
          </a:p>
        </p:txBody>
      </p:sp>
      <p:sp>
        <p:nvSpPr>
          <p:cNvPr id="9" name="text-11"/>
          <p:cNvSpPr txBox="1"/>
          <p:nvPr/>
        </p:nvSpPr>
        <p:spPr>
          <a:xfrm>
            <a:off x="1325880" y="1508760"/>
            <a:ext cx="3474720" cy="320040"/>
          </a:xfrm>
          <a:prstGeom prst="rect">
            <a:avLst/>
          </a:prstGeom>
          <a:noFill/>
          <a:ln/>
        </p:spPr>
        <p:txBody>
          <a:bodyPr wrap="square" lIns="0" tIns="0" rIns="0" bIns="0" rtlCol="0" anchor="t"/>
          <a:lstStyle/>
          <a:p>
            <a:pPr algn="l" indent="0" marL="0">
              <a:buNone/>
            </a:pPr>
            <a:r>
              <a:rPr lang="en-US" sz="1400" dirty="0">
                <a:solidFill>
                  <a:schemeClr val="tx1"/>
                </a:solidFill>
              </a:rPr>
              <a:t>Sensors and cameras reveal where people go.</a:t>
            </a:r>
            <a:endParaRPr lang="en-US" sz="1400" dirty="0"/>
          </a:p>
        </p:txBody>
      </p:sp>
      <p:sp>
        <p:nvSpPr>
          <p:cNvPr id="10" name="node-12"/>
          <p:cNvSpPr txBox="1"/>
          <p:nvPr/>
        </p:nvSpPr>
        <p:spPr>
          <a:xfrm>
            <a:off x="457200" y="2057400"/>
            <a:ext cx="4480560" cy="822960"/>
          </a:xfrm>
          <a:prstGeom prst="roundRect">
            <a:avLst>
              <a:gd name="adj" fmla="val 8889"/>
            </a:avLst>
          </a:prstGeom>
          <a:solidFill>
            <a:schemeClr val="bg2"/>
          </a:solidFill>
          <a:ln/>
        </p:spPr>
        <p:txBody>
          <a:bodyPr wrap="square" lIns="635" tIns="635" rIns="635" bIns="635" rtlCol="0" anchor="ctr"/>
          <a:lstStyle/>
          <a:p>
            <a:pPr algn="ctr" indent="0" marL="0">
              <a:buNone/>
            </a:pPr>
            <a:endParaRPr lang="en-US" sz="1200" dirty="0"/>
          </a:p>
        </p:txBody>
      </p:sp>
      <p:sp>
        <p:nvSpPr>
          <p:cNvPr id="11" name="iconbg-13"/>
          <p:cNvSpPr/>
          <p:nvPr/>
        </p:nvSpPr>
        <p:spPr>
          <a:xfrm>
            <a:off x="594360" y="2194560"/>
            <a:ext cx="548640" cy="548640"/>
          </a:xfrm>
          <a:prstGeom prst="ellipse">
            <a:avLst/>
          </a:prstGeom>
          <a:solidFill>
            <a:schemeClr val="accent4"/>
          </a:solidFill>
          <a:ln/>
        </p:spPr>
      </p:sp>
      <p:pic>
        <p:nvPicPr>
          <p:cNvPr id="12" name="Image 1" descr="NetworkWired icon">    </p:cNvPr>
          <p:cNvPicPr>
            <a:picLocks noChangeAspect="1"/>
          </p:cNvPicPr>
          <p:nvPr/>
        </p:nvPicPr>
        <p:blipFill>
          <a:blip r:embed="rId2"/>
          <a:stretch>
            <a:fillRect/>
          </a:stretch>
        </p:blipFill>
        <p:spPr>
          <a:xfrm>
            <a:off x="731520" y="2331720"/>
            <a:ext cx="274320" cy="274320"/>
          </a:xfrm>
          <a:prstGeom prst="rect">
            <a:avLst/>
          </a:prstGeom>
        </p:spPr>
      </p:pic>
      <p:sp>
        <p:nvSpPr>
          <p:cNvPr id="13" name="text-14"/>
          <p:cNvSpPr txBox="1"/>
          <p:nvPr/>
        </p:nvSpPr>
        <p:spPr>
          <a:xfrm>
            <a:off x="1325880" y="2167128"/>
            <a:ext cx="3474720" cy="274320"/>
          </a:xfrm>
          <a:prstGeom prst="rect">
            <a:avLst/>
          </a:prstGeom>
          <a:noFill/>
          <a:ln/>
        </p:spPr>
        <p:txBody>
          <a:bodyPr wrap="square" lIns="0" tIns="0" rIns="0" bIns="0" rtlCol="0" anchor="t"/>
          <a:lstStyle/>
          <a:p>
            <a:pPr algn="l" indent="0" marL="0">
              <a:buNone/>
            </a:pPr>
            <a:r>
              <a:rPr lang="en-US" sz="1600" b="1" dirty="0">
                <a:solidFill>
                  <a:schemeClr val="tx1"/>
                </a:solidFill>
              </a:rPr>
              <a:t>Sending it all is costly</a:t>
            </a:r>
            <a:endParaRPr lang="en-US" sz="1600" dirty="0"/>
          </a:p>
        </p:txBody>
      </p:sp>
      <p:sp>
        <p:nvSpPr>
          <p:cNvPr id="14" name="text-15"/>
          <p:cNvSpPr txBox="1"/>
          <p:nvPr/>
        </p:nvSpPr>
        <p:spPr>
          <a:xfrm>
            <a:off x="1325880" y="2468880"/>
            <a:ext cx="3474720" cy="320040"/>
          </a:xfrm>
          <a:prstGeom prst="rect">
            <a:avLst/>
          </a:prstGeom>
          <a:noFill/>
          <a:ln/>
        </p:spPr>
        <p:txBody>
          <a:bodyPr wrap="square" lIns="0" tIns="0" rIns="0" bIns="0" rtlCol="0" anchor="t"/>
          <a:lstStyle/>
          <a:p>
            <a:pPr algn="l" indent="0" marL="0">
              <a:buNone/>
            </a:pPr>
            <a:r>
              <a:rPr lang="en-US" sz="1400" dirty="0">
                <a:solidFill>
                  <a:schemeClr val="tx1"/>
                </a:solidFill>
              </a:rPr>
              <a:t>Thousands of sensors = a huge network bill.</a:t>
            </a:r>
            <a:endParaRPr lang="en-US" sz="1400" dirty="0"/>
          </a:p>
        </p:txBody>
      </p:sp>
      <p:sp>
        <p:nvSpPr>
          <p:cNvPr id="15" name="node-16"/>
          <p:cNvSpPr txBox="1"/>
          <p:nvPr/>
        </p:nvSpPr>
        <p:spPr>
          <a:xfrm>
            <a:off x="457200" y="3017520"/>
            <a:ext cx="4480560" cy="822960"/>
          </a:xfrm>
          <a:prstGeom prst="roundRect">
            <a:avLst>
              <a:gd name="adj" fmla="val 8889"/>
            </a:avLst>
          </a:prstGeom>
          <a:solidFill>
            <a:schemeClr val="bg2"/>
          </a:solidFill>
          <a:ln/>
        </p:spPr>
        <p:txBody>
          <a:bodyPr wrap="square" lIns="635" tIns="635" rIns="635" bIns="635" rtlCol="0" anchor="ctr"/>
          <a:lstStyle/>
          <a:p>
            <a:pPr algn="ctr" indent="0" marL="0">
              <a:buNone/>
            </a:pPr>
            <a:endParaRPr lang="en-US" sz="1200" dirty="0"/>
          </a:p>
        </p:txBody>
      </p:sp>
      <p:sp>
        <p:nvSpPr>
          <p:cNvPr id="16" name="iconbg-17"/>
          <p:cNvSpPr/>
          <p:nvPr/>
        </p:nvSpPr>
        <p:spPr>
          <a:xfrm>
            <a:off x="594360" y="3154680"/>
            <a:ext cx="548640" cy="548640"/>
          </a:xfrm>
          <a:prstGeom prst="ellipse">
            <a:avLst/>
          </a:prstGeom>
          <a:solidFill>
            <a:schemeClr val="accent2"/>
          </a:solidFill>
          <a:ln/>
        </p:spPr>
      </p:sp>
      <p:pic>
        <p:nvPicPr>
          <p:cNvPr id="17" name="Image 2" descr="Clock icon">    </p:cNvPr>
          <p:cNvPicPr>
            <a:picLocks noChangeAspect="1"/>
          </p:cNvPicPr>
          <p:nvPr/>
        </p:nvPicPr>
        <p:blipFill>
          <a:blip r:embed="rId3"/>
          <a:stretch>
            <a:fillRect/>
          </a:stretch>
        </p:blipFill>
        <p:spPr>
          <a:xfrm>
            <a:off x="731520" y="3291840"/>
            <a:ext cx="274320" cy="274320"/>
          </a:xfrm>
          <a:prstGeom prst="rect">
            <a:avLst/>
          </a:prstGeom>
        </p:spPr>
      </p:pic>
      <p:sp>
        <p:nvSpPr>
          <p:cNvPr id="18" name="text-18"/>
          <p:cNvSpPr txBox="1"/>
          <p:nvPr/>
        </p:nvSpPr>
        <p:spPr>
          <a:xfrm>
            <a:off x="1325880" y="3127248"/>
            <a:ext cx="3474720" cy="274320"/>
          </a:xfrm>
          <a:prstGeom prst="rect">
            <a:avLst/>
          </a:prstGeom>
          <a:noFill/>
          <a:ln/>
        </p:spPr>
        <p:txBody>
          <a:bodyPr wrap="square" lIns="0" tIns="0" rIns="0" bIns="0" rtlCol="0" anchor="t"/>
          <a:lstStyle/>
          <a:p>
            <a:pPr algn="l" indent="0" marL="0">
              <a:buNone/>
            </a:pPr>
            <a:r>
              <a:rPr lang="en-US" sz="1600" b="1" dirty="0">
                <a:solidFill>
                  <a:schemeClr val="tx1"/>
                </a:solidFill>
              </a:rPr>
              <a:t>Roads change fast</a:t>
            </a:r>
            <a:endParaRPr lang="en-US" sz="1600" dirty="0"/>
          </a:p>
        </p:txBody>
      </p:sp>
      <p:sp>
        <p:nvSpPr>
          <p:cNvPr id="19" name="text-19"/>
          <p:cNvSpPr txBox="1"/>
          <p:nvPr/>
        </p:nvSpPr>
        <p:spPr>
          <a:xfrm>
            <a:off x="1325880" y="3429000"/>
            <a:ext cx="3474720" cy="320040"/>
          </a:xfrm>
          <a:prstGeom prst="rect">
            <a:avLst/>
          </a:prstGeom>
          <a:noFill/>
          <a:ln/>
        </p:spPr>
        <p:txBody>
          <a:bodyPr wrap="square" lIns="0" tIns="0" rIns="0" bIns="0" rtlCol="0" anchor="t"/>
          <a:lstStyle/>
          <a:p>
            <a:pPr algn="l" indent="0" marL="0">
              <a:buNone/>
            </a:pPr>
            <a:r>
              <a:rPr lang="en-US" sz="1400" dirty="0">
                <a:solidFill>
                  <a:schemeClr val="tx1"/>
                </a:solidFill>
              </a:rPr>
              <a:t>Forecasts must be fresh every few minutes.</a:t>
            </a:r>
            <a:endParaRPr lang="en-US" sz="1400" dirty="0"/>
          </a:p>
        </p:txBody>
      </p:sp>
      <p:sp>
        <p:nvSpPr>
          <p:cNvPr id="20" name="node-20"/>
          <p:cNvSpPr txBox="1"/>
          <p:nvPr/>
        </p:nvSpPr>
        <p:spPr>
          <a:xfrm>
            <a:off x="457200" y="4023360"/>
            <a:ext cx="4480560" cy="594360"/>
          </a:xfrm>
          <a:prstGeom prst="roundRect">
            <a:avLst>
              <a:gd name="adj" fmla="val 12308"/>
            </a:avLst>
          </a:prstGeom>
          <a:solidFill>
            <a:schemeClr val="accent2">
              <a:alpha val="20000"/>
            </a:schemeClr>
          </a:solidFill>
          <a:ln/>
        </p:spPr>
        <p:txBody>
          <a:bodyPr wrap="square" lIns="1524" tIns="1524" rIns="1524" bIns="1524" rtlCol="0" anchor="ctr"/>
          <a:lstStyle/>
          <a:p>
            <a:pPr algn="l" indent="0" marL="0">
              <a:buNone/>
            </a:pPr>
            <a:r>
              <a:rPr lang="en-US" sz="1300" dirty="0">
                <a:solidFill>
                  <a:schemeClr val="tx1"/>
                </a:solidFill>
              </a:rPr>
              <a:t>In short: smart local forecasts + a smart rule for when to talk to the server.</a:t>
            </a:r>
            <a:endParaRPr lang="en-US" sz="1300" dirty="0"/>
          </a:p>
        </p:txBody>
      </p:sp>
      <p:pic>
        <p:nvPicPr>
          <p:cNvPr id="21" name="Image 3" descr="City intersection with sensor network overlay">    </p:cNvPr>
          <p:cNvPicPr>
            <a:picLocks noChangeAspect="1"/>
          </p:cNvPicPr>
          <p:nvPr/>
        </p:nvPicPr>
        <p:blipFill>
          <a:blip r:embed="rId4"/>
          <a:stretch>
            <a:fillRect/>
          </a:stretch>
        </p:blipFill>
        <p:spPr>
          <a:xfrm>
            <a:off x="5212080" y="1097280"/>
            <a:ext cx="3474720" cy="2011680"/>
          </a:xfrm>
          <a:prstGeom prst="rect">
            <a:avLst/>
          </a:prstGeom>
        </p:spPr>
      </p:pic>
      <p:sp>
        <p:nvSpPr>
          <p:cNvPr id="22" name="node-21"/>
          <p:cNvSpPr txBox="1"/>
          <p:nvPr/>
        </p:nvSpPr>
        <p:spPr>
          <a:xfrm>
            <a:off x="5212080" y="3246120"/>
            <a:ext cx="3474720" cy="1371600"/>
          </a:xfrm>
          <a:prstGeom prst="roundRect">
            <a:avLst>
              <a:gd name="adj" fmla="val 5333"/>
            </a:avLst>
          </a:prstGeom>
          <a:solidFill>
            <a:schemeClr val="accent1"/>
          </a:solidFill>
          <a:ln/>
        </p:spPr>
        <p:txBody>
          <a:bodyPr wrap="square" lIns="635" tIns="635" rIns="635" bIns="635" rtlCol="0" anchor="ctr"/>
          <a:lstStyle/>
          <a:p>
            <a:pPr algn="ctr" indent="0" marL="0">
              <a:buNone/>
            </a:pPr>
            <a:endParaRPr lang="en-US" sz="1200" dirty="0"/>
          </a:p>
        </p:txBody>
      </p:sp>
      <p:sp>
        <p:nvSpPr>
          <p:cNvPr id="23" name="text-22"/>
          <p:cNvSpPr txBox="1"/>
          <p:nvPr/>
        </p:nvSpPr>
        <p:spPr>
          <a:xfrm>
            <a:off x="5440680" y="3337560"/>
            <a:ext cx="3017520" cy="274320"/>
          </a:xfrm>
          <a:prstGeom prst="rect">
            <a:avLst/>
          </a:prstGeom>
          <a:noFill/>
          <a:ln/>
        </p:spPr>
        <p:txBody>
          <a:bodyPr wrap="square" lIns="0" tIns="0" rIns="0" bIns="0" rtlCol="0" anchor="t"/>
          <a:lstStyle/>
          <a:p>
            <a:pPr algn="l" indent="0" marL="0">
              <a:buNone/>
            </a:pPr>
            <a:r>
              <a:rPr lang="en-US" sz="1600" b="1" dirty="0">
                <a:solidFill>
                  <a:schemeClr val="bg1"/>
                </a:solidFill>
              </a:rPr>
              <a:t>Our goal</a:t>
            </a:r>
            <a:endParaRPr lang="en-US" sz="1600" dirty="0"/>
          </a:p>
        </p:txBody>
      </p:sp>
      <p:sp>
        <p:nvSpPr>
          <p:cNvPr id="24" name="text-23"/>
          <p:cNvSpPr txBox="1"/>
          <p:nvPr/>
        </p:nvSpPr>
        <p:spPr>
          <a:xfrm>
            <a:off x="5440680" y="3657600"/>
            <a:ext cx="3108960" cy="868680"/>
          </a:xfrm>
          <a:prstGeom prst="rect">
            <a:avLst/>
          </a:prstGeom>
          <a:noFill/>
          <a:ln/>
        </p:spPr>
        <p:txBody>
          <a:bodyPr wrap="square" lIns="0" tIns="0" rIns="0" bIns="0" rtlCol="0" anchor="t"/>
          <a:lstStyle/>
          <a:p>
            <a:pPr algn="l" marL="342900" indent="-342900">
              <a:spcAft>
                <a:spcPts val="300"/>
              </a:spcAft>
              <a:buSzPct val="100000"/>
              <a:buChar char="•"/>
            </a:pPr>
            <a:r>
              <a:rPr lang="en-US" sz="1400" dirty="0">
                <a:solidFill>
                  <a:schemeClr val="bg1"/>
                </a:solidFill>
              </a:rPr>
              <a:t>Predict traffic well</a:t>
            </a:r>
            <a:endParaRPr lang="en-US" sz="1400" dirty="0"/>
          </a:p>
          <a:p>
            <a:pPr algn="l" marL="342900" indent="-342900">
              <a:spcAft>
                <a:spcPts val="300"/>
              </a:spcAft>
              <a:buSzPct val="100000"/>
              <a:buChar char="•"/>
            </a:pPr>
            <a:r>
              <a:rPr lang="en-US" sz="1400" dirty="0">
                <a:solidFill>
                  <a:schemeClr val="bg1"/>
                </a:solidFill>
              </a:rPr>
              <a:t>Keep raw data at the junction</a:t>
            </a:r>
            <a:endParaRPr lang="en-US" sz="1400" dirty="0"/>
          </a:p>
          <a:p>
            <a:pPr algn="l" marL="342900" indent="-342900">
              <a:spcAft>
                <a:spcPts val="300"/>
              </a:spcAft>
              <a:buSzPct val="100000"/>
              <a:buChar char="•"/>
            </a:pPr>
            <a:r>
              <a:rPr lang="en-US" sz="1400" dirty="0">
                <a:solidFill>
                  <a:schemeClr val="bg1"/>
                </a:solidFill>
              </a:rPr>
              <a:t>Send as few bytes as possible</a:t>
            </a:r>
            <a:endParaRPr lang="en-US" sz="1400" dirty="0"/>
          </a:p>
        </p:txBody>
      </p:sp>
      <p:sp>
        <p:nvSpPr>
          <p:cNvPr id="25" name="Slide Number Placeholder 0"/>
          <p:cNvSpPr>
            <a:spLocks noGrp="1"/>
          </p:cNvSpPr>
          <p:nvPr>
            <p:ph type="sldNum" sz="quarter" idx="4294967295"/>
          </p:nvPr>
        </p:nvSpPr>
        <p:spPr>
          <a:xfrm>
            <a:off x="7845552" y="4828032"/>
            <a:ext cx="658368"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header-label"/>
          <p:cNvSpPr txBox="1"/>
          <p:nvPr/>
        </p:nvSpPr>
        <p:spPr>
          <a:xfrm>
            <a:off x="2286000" y="91440"/>
            <a:ext cx="4572000" cy="228600"/>
          </a:xfrm>
          <a:prstGeom prst="rect">
            <a:avLst/>
          </a:prstGeom>
          <a:noFill/>
          <a:ln/>
        </p:spPr>
        <p:txBody>
          <a:bodyPr wrap="square" lIns="0" tIns="0" rIns="0" bIns="0" rtlCol="0" anchor="ctr"/>
          <a:lstStyle/>
          <a:p>
            <a:pPr algn="ctr" indent="0" marL="0">
              <a:buNone/>
            </a:pPr>
            <a:r>
              <a:rPr lang="en-US" sz="1000" b="1" dirty="0">
                <a:solidFill>
                  <a:schemeClr val="accent1"/>
                </a:solidFill>
              </a:rPr>
              <a:t>AIORI 3</a:t>
            </a:r>
            <a:pPr algn="ctr" indent="0" marL="0">
              <a:buNone/>
            </a:pPr>
            <a:r>
              <a:rPr lang="en-US" sz="1000" dirty="0">
                <a:solidFill>
                  <a:schemeClr val="accent1"/>
                </a:solidFill>
              </a:rPr>
              <a:t>     Background</a:t>
            </a:r>
            <a:endParaRPr lang="en-US" sz="1000" dirty="0"/>
          </a:p>
        </p:txBody>
      </p:sp>
      <p:sp>
        <p:nvSpPr>
          <p:cNvPr id="3" name="Text 2"/>
          <p:cNvSpPr/>
          <p:nvPr>
            <p:ph idx="102" type="title" hasCustomPrompt="1"/>
          </p:nvPr>
        </p:nvSpPr>
        <p:spPr>
          <a:xfrm>
            <a:off x="457200" y="347472"/>
            <a:ext cx="8229600" cy="566928"/>
          </a:xfrm>
          <a:prstGeom prst="rect">
            <a:avLst/>
          </a:prstGeom>
          <a:noFill/>
          <a:ln/>
        </p:spPr>
        <p:txBody>
          <a:bodyPr wrap="square" lIns="0" tIns="0" rIns="0" bIns="0" rtlCol="0" anchor="ctr"/>
          <a:lstStyle/>
          <a:p>
            <a:pPr algn="l" indent="0" marL="0">
              <a:buNone/>
            </a:pPr>
            <a:r>
              <a:rPr lang="en-US" sz="3200" b="1" dirty="0">
                <a:solidFill>
                  <a:schemeClr val="accent1"/>
                </a:solidFill>
              </a:rPr>
              <a:t>Background</a:t>
            </a:r>
            <a:endParaRPr lang="en-US" sz="3200" dirty="0"/>
          </a:p>
        </p:txBody>
      </p:sp>
      <p:sp>
        <p:nvSpPr>
          <p:cNvPr id="5" name="node-24"/>
          <p:cNvSpPr txBox="1"/>
          <p:nvPr/>
        </p:nvSpPr>
        <p:spPr>
          <a:xfrm>
            <a:off x="457200" y="1051560"/>
            <a:ext cx="3931920" cy="3017520"/>
          </a:xfrm>
          <a:prstGeom prst="roundRect">
            <a:avLst>
              <a:gd name="adj" fmla="val 2424"/>
            </a:avLst>
          </a:prstGeom>
          <a:solidFill>
            <a:schemeClr val="bg2"/>
          </a:solidFill>
          <a:ln/>
        </p:spPr>
        <p:txBody>
          <a:bodyPr wrap="square" lIns="635" tIns="635" rIns="635" bIns="635" rtlCol="0" anchor="ctr"/>
          <a:lstStyle/>
          <a:p>
            <a:pPr algn="ctr" indent="0" marL="0">
              <a:buNone/>
            </a:pPr>
            <a:endParaRPr lang="en-US" sz="1200" dirty="0"/>
          </a:p>
        </p:txBody>
      </p:sp>
      <p:sp>
        <p:nvSpPr>
          <p:cNvPr id="6" name="node-25"/>
          <p:cNvSpPr txBox="1"/>
          <p:nvPr/>
        </p:nvSpPr>
        <p:spPr>
          <a:xfrm>
            <a:off x="594360" y="1161288"/>
            <a:ext cx="3657600" cy="292608"/>
          </a:xfrm>
          <a:prstGeom prst="roundRect">
            <a:avLst>
              <a:gd name="adj" fmla="val 40625"/>
            </a:avLst>
          </a:prstGeom>
          <a:solidFill>
            <a:schemeClr val="accent5"/>
          </a:solidFill>
          <a:ln/>
        </p:spPr>
        <p:txBody>
          <a:bodyPr wrap="square" lIns="254" tIns="254" rIns="254" bIns="254" rtlCol="0" anchor="ctr"/>
          <a:lstStyle/>
          <a:p>
            <a:pPr algn="ctr" indent="0" marL="0">
              <a:buNone/>
            </a:pPr>
            <a:r>
              <a:rPr lang="en-US" sz="1200" b="1" dirty="0">
                <a:solidFill>
                  <a:schemeClr val="bg1"/>
                </a:solidFill>
              </a:rPr>
              <a:t>Old way: send raw data</a:t>
            </a:r>
            <a:endParaRPr lang="en-US" sz="1200" dirty="0"/>
          </a:p>
        </p:txBody>
      </p:sp>
      <p:sp>
        <p:nvSpPr>
          <p:cNvPr id="7" name="iconbg-26"/>
          <p:cNvSpPr/>
          <p:nvPr/>
        </p:nvSpPr>
        <p:spPr>
          <a:xfrm>
            <a:off x="800100" y="1714500"/>
            <a:ext cx="502920" cy="502920"/>
          </a:xfrm>
          <a:prstGeom prst="ellipse">
            <a:avLst/>
          </a:prstGeom>
          <a:solidFill>
            <a:schemeClr val="tx2"/>
          </a:solidFill>
          <a:ln/>
        </p:spPr>
      </p:sp>
      <p:pic>
        <p:nvPicPr>
          <p:cNvPr id="8" name="Image 0" descr="TrafficLight icon">    </p:cNvPr>
          <p:cNvPicPr>
            <a:picLocks noChangeAspect="1"/>
          </p:cNvPicPr>
          <p:nvPr/>
        </p:nvPicPr>
        <p:blipFill>
          <a:blip r:embed="rId1"/>
          <a:stretch>
            <a:fillRect/>
          </a:stretch>
        </p:blipFill>
        <p:spPr>
          <a:xfrm>
            <a:off x="925830" y="1840230"/>
            <a:ext cx="251460" cy="251460"/>
          </a:xfrm>
          <a:prstGeom prst="rect">
            <a:avLst/>
          </a:prstGeom>
        </p:spPr>
      </p:pic>
      <p:sp>
        <p:nvSpPr>
          <p:cNvPr id="9" name="line-27"/>
          <p:cNvSpPr/>
          <p:nvPr/>
        </p:nvSpPr>
        <p:spPr>
          <a:xfrm>
            <a:off x="1353312" y="1965960"/>
            <a:ext cx="1847088" cy="720090"/>
          </a:xfrm>
          <a:prstGeom prst="line">
            <a:avLst/>
          </a:prstGeom>
          <a:noFill/>
          <a:ln w="44450">
            <a:solidFill>
              <a:schemeClr val="accent5"/>
            </a:solidFill>
            <a:prstDash val="solid"/>
            <a:tailEnd type="triangle"/>
          </a:ln>
        </p:spPr>
      </p:sp>
      <p:sp>
        <p:nvSpPr>
          <p:cNvPr id="10" name="iconbg-28"/>
          <p:cNvSpPr/>
          <p:nvPr/>
        </p:nvSpPr>
        <p:spPr>
          <a:xfrm>
            <a:off x="800100" y="2400300"/>
            <a:ext cx="502920" cy="502920"/>
          </a:xfrm>
          <a:prstGeom prst="ellipse">
            <a:avLst/>
          </a:prstGeom>
          <a:solidFill>
            <a:schemeClr val="tx2"/>
          </a:solidFill>
          <a:ln/>
        </p:spPr>
      </p:sp>
      <p:pic>
        <p:nvPicPr>
          <p:cNvPr id="11" name="Image 1" descr="TrafficLight icon">    </p:cNvPr>
          <p:cNvPicPr>
            <a:picLocks noChangeAspect="1"/>
          </p:cNvPicPr>
          <p:nvPr/>
        </p:nvPicPr>
        <p:blipFill>
          <a:blip r:embed="rId2"/>
          <a:stretch>
            <a:fillRect/>
          </a:stretch>
        </p:blipFill>
        <p:spPr>
          <a:xfrm>
            <a:off x="925830" y="2526030"/>
            <a:ext cx="251460" cy="251460"/>
          </a:xfrm>
          <a:prstGeom prst="rect">
            <a:avLst/>
          </a:prstGeom>
        </p:spPr>
      </p:pic>
      <p:sp>
        <p:nvSpPr>
          <p:cNvPr id="12" name="line-29"/>
          <p:cNvSpPr/>
          <p:nvPr/>
        </p:nvSpPr>
        <p:spPr>
          <a:xfrm>
            <a:off x="1353312" y="2651760"/>
            <a:ext cx="1847088" cy="137160"/>
          </a:xfrm>
          <a:prstGeom prst="line">
            <a:avLst/>
          </a:prstGeom>
          <a:noFill/>
          <a:ln w="44450">
            <a:solidFill>
              <a:schemeClr val="accent5"/>
            </a:solidFill>
            <a:prstDash val="solid"/>
            <a:tailEnd type="triangle"/>
          </a:ln>
        </p:spPr>
      </p:sp>
      <p:sp>
        <p:nvSpPr>
          <p:cNvPr id="13" name="iconbg-30"/>
          <p:cNvSpPr/>
          <p:nvPr/>
        </p:nvSpPr>
        <p:spPr>
          <a:xfrm>
            <a:off x="800100" y="3086100"/>
            <a:ext cx="502920" cy="502920"/>
          </a:xfrm>
          <a:prstGeom prst="ellipse">
            <a:avLst/>
          </a:prstGeom>
          <a:solidFill>
            <a:schemeClr val="tx2"/>
          </a:solidFill>
          <a:ln/>
        </p:spPr>
      </p:sp>
      <p:pic>
        <p:nvPicPr>
          <p:cNvPr id="14" name="Image 2" descr="TrafficLight icon">    </p:cNvPr>
          <p:cNvPicPr>
            <a:picLocks noChangeAspect="1"/>
          </p:cNvPicPr>
          <p:nvPr/>
        </p:nvPicPr>
        <p:blipFill>
          <a:blip r:embed="rId3"/>
          <a:stretch>
            <a:fillRect/>
          </a:stretch>
        </p:blipFill>
        <p:spPr>
          <a:xfrm>
            <a:off x="925830" y="3211830"/>
            <a:ext cx="251460" cy="251460"/>
          </a:xfrm>
          <a:prstGeom prst="rect">
            <a:avLst/>
          </a:prstGeom>
        </p:spPr>
      </p:pic>
      <p:sp>
        <p:nvSpPr>
          <p:cNvPr id="15" name="line-31"/>
          <p:cNvSpPr/>
          <p:nvPr/>
        </p:nvSpPr>
        <p:spPr>
          <a:xfrm flipV="1">
            <a:off x="1353312" y="2891790"/>
            <a:ext cx="1847088" cy="445770"/>
          </a:xfrm>
          <a:prstGeom prst="line">
            <a:avLst/>
          </a:prstGeom>
          <a:noFill/>
          <a:ln w="44450">
            <a:solidFill>
              <a:schemeClr val="accent5"/>
            </a:solidFill>
            <a:prstDash val="solid"/>
            <a:tailEnd type="triangle"/>
          </a:ln>
        </p:spPr>
      </p:sp>
      <p:sp>
        <p:nvSpPr>
          <p:cNvPr id="16" name="iconbg-32"/>
          <p:cNvSpPr/>
          <p:nvPr/>
        </p:nvSpPr>
        <p:spPr>
          <a:xfrm>
            <a:off x="3337560" y="2423160"/>
            <a:ext cx="731520" cy="731520"/>
          </a:xfrm>
          <a:prstGeom prst="ellipse">
            <a:avLst/>
          </a:prstGeom>
          <a:solidFill>
            <a:schemeClr val="accent5"/>
          </a:solidFill>
          <a:ln/>
        </p:spPr>
      </p:sp>
      <p:pic>
        <p:nvPicPr>
          <p:cNvPr id="17" name="Image 3" descr="Cloud icon">    </p:cNvPr>
          <p:cNvPicPr>
            <a:picLocks noChangeAspect="1"/>
          </p:cNvPicPr>
          <p:nvPr/>
        </p:nvPicPr>
        <p:blipFill>
          <a:blip r:embed="rId4"/>
          <a:stretch>
            <a:fillRect/>
          </a:stretch>
        </p:blipFill>
        <p:spPr>
          <a:xfrm>
            <a:off x="3520440" y="2606040"/>
            <a:ext cx="365760" cy="365760"/>
          </a:xfrm>
          <a:prstGeom prst="rect">
            <a:avLst/>
          </a:prstGeom>
        </p:spPr>
      </p:pic>
      <p:sp>
        <p:nvSpPr>
          <p:cNvPr id="18" name="text-33"/>
          <p:cNvSpPr txBox="1"/>
          <p:nvPr/>
        </p:nvSpPr>
        <p:spPr>
          <a:xfrm>
            <a:off x="1645920" y="1874520"/>
            <a:ext cx="1463040" cy="228600"/>
          </a:xfrm>
          <a:prstGeom prst="rect">
            <a:avLst/>
          </a:prstGeom>
          <a:noFill/>
          <a:ln/>
        </p:spPr>
        <p:txBody>
          <a:bodyPr wrap="square" lIns="0" tIns="0" rIns="0" bIns="0" rtlCol="0" anchor="t"/>
          <a:lstStyle/>
          <a:p>
            <a:pPr algn="ctr" indent="0" marL="0">
              <a:buNone/>
            </a:pPr>
            <a:r>
              <a:rPr lang="en-US" sz="1100" b="1" dirty="0">
                <a:solidFill>
                  <a:schemeClr val="accent5"/>
                </a:solidFill>
              </a:rPr>
              <a:t>RAW DATA (huge)</a:t>
            </a:r>
            <a:endParaRPr lang="en-US" sz="1100" dirty="0"/>
          </a:p>
        </p:txBody>
      </p:sp>
      <p:sp>
        <p:nvSpPr>
          <p:cNvPr id="19" name="text-34"/>
          <p:cNvSpPr txBox="1"/>
          <p:nvPr/>
        </p:nvSpPr>
        <p:spPr>
          <a:xfrm>
            <a:off x="640080" y="3639312"/>
            <a:ext cx="3566160" cy="365760"/>
          </a:xfrm>
          <a:prstGeom prst="rect">
            <a:avLst/>
          </a:prstGeom>
          <a:noFill/>
          <a:ln/>
        </p:spPr>
        <p:txBody>
          <a:bodyPr wrap="square" lIns="0" tIns="0" rIns="0" bIns="0" rtlCol="0" anchor="t"/>
          <a:lstStyle/>
          <a:p>
            <a:pPr algn="l" indent="0" marL="0">
              <a:buNone/>
            </a:pPr>
            <a:r>
              <a:rPr lang="en-US" sz="1200" b="1" dirty="0">
                <a:solidFill>
                  <a:schemeClr val="tx1"/>
                </a:solidFill>
              </a:rPr>
              <a:t>Privacy risk + heavy network load</a:t>
            </a:r>
            <a:endParaRPr lang="en-US" sz="1200" dirty="0"/>
          </a:p>
        </p:txBody>
      </p:sp>
      <p:sp>
        <p:nvSpPr>
          <p:cNvPr id="20" name="node-35"/>
          <p:cNvSpPr txBox="1"/>
          <p:nvPr/>
        </p:nvSpPr>
        <p:spPr>
          <a:xfrm>
            <a:off x="4754880" y="1051560"/>
            <a:ext cx="3931920" cy="3017520"/>
          </a:xfrm>
          <a:prstGeom prst="roundRect">
            <a:avLst>
              <a:gd name="adj" fmla="val 2424"/>
            </a:avLst>
          </a:prstGeom>
          <a:solidFill>
            <a:schemeClr val="bg2"/>
          </a:solidFill>
          <a:ln/>
        </p:spPr>
        <p:txBody>
          <a:bodyPr wrap="square" lIns="635" tIns="635" rIns="635" bIns="635" rtlCol="0" anchor="ctr"/>
          <a:lstStyle/>
          <a:p>
            <a:pPr algn="ctr" indent="0" marL="0">
              <a:buNone/>
            </a:pPr>
            <a:endParaRPr lang="en-US" sz="1200" dirty="0"/>
          </a:p>
        </p:txBody>
      </p:sp>
      <p:sp>
        <p:nvSpPr>
          <p:cNvPr id="21" name="node-36"/>
          <p:cNvSpPr txBox="1"/>
          <p:nvPr/>
        </p:nvSpPr>
        <p:spPr>
          <a:xfrm>
            <a:off x="4892040" y="1161288"/>
            <a:ext cx="3657600" cy="292608"/>
          </a:xfrm>
          <a:prstGeom prst="roundRect">
            <a:avLst>
              <a:gd name="adj" fmla="val 40625"/>
            </a:avLst>
          </a:prstGeom>
          <a:solidFill>
            <a:schemeClr val="accent3"/>
          </a:solidFill>
          <a:ln/>
        </p:spPr>
        <p:txBody>
          <a:bodyPr wrap="square" lIns="254" tIns="254" rIns="254" bIns="254" rtlCol="0" anchor="ctr"/>
          <a:lstStyle/>
          <a:p>
            <a:pPr algn="ctr" indent="0" marL="0">
              <a:buNone/>
            </a:pPr>
            <a:r>
              <a:rPr lang="en-US" sz="1200" b="1" dirty="0">
                <a:solidFill>
                  <a:schemeClr val="bg1"/>
                </a:solidFill>
              </a:rPr>
              <a:t>Federated way: send small updates</a:t>
            </a:r>
            <a:endParaRPr lang="en-US" sz="1200" dirty="0"/>
          </a:p>
        </p:txBody>
      </p:sp>
      <p:sp>
        <p:nvSpPr>
          <p:cNvPr id="22" name="iconbg-37"/>
          <p:cNvSpPr/>
          <p:nvPr/>
        </p:nvSpPr>
        <p:spPr>
          <a:xfrm>
            <a:off x="5097780" y="1714500"/>
            <a:ext cx="502920" cy="502920"/>
          </a:xfrm>
          <a:prstGeom prst="ellipse">
            <a:avLst/>
          </a:prstGeom>
          <a:solidFill>
            <a:schemeClr val="tx2"/>
          </a:solidFill>
          <a:ln/>
        </p:spPr>
      </p:sp>
      <p:pic>
        <p:nvPicPr>
          <p:cNvPr id="23" name="Image 4" descr="TrafficLight icon">    </p:cNvPr>
          <p:cNvPicPr>
            <a:picLocks noChangeAspect="1"/>
          </p:cNvPicPr>
          <p:nvPr/>
        </p:nvPicPr>
        <p:blipFill>
          <a:blip r:embed="rId5"/>
          <a:stretch>
            <a:fillRect/>
          </a:stretch>
        </p:blipFill>
        <p:spPr>
          <a:xfrm>
            <a:off x="5223510" y="1840230"/>
            <a:ext cx="251460" cy="251460"/>
          </a:xfrm>
          <a:prstGeom prst="rect">
            <a:avLst/>
          </a:prstGeom>
        </p:spPr>
      </p:pic>
      <p:sp>
        <p:nvSpPr>
          <p:cNvPr id="24" name="line-38"/>
          <p:cNvSpPr/>
          <p:nvPr/>
        </p:nvSpPr>
        <p:spPr>
          <a:xfrm>
            <a:off x="5650992" y="1965960"/>
            <a:ext cx="1847088" cy="720090"/>
          </a:xfrm>
          <a:prstGeom prst="line">
            <a:avLst/>
          </a:prstGeom>
          <a:noFill/>
          <a:ln w="15875">
            <a:solidFill>
              <a:schemeClr val="accent3"/>
            </a:solidFill>
            <a:prstDash val="solid"/>
            <a:tailEnd type="triangle"/>
          </a:ln>
        </p:spPr>
      </p:sp>
      <p:sp>
        <p:nvSpPr>
          <p:cNvPr id="25" name="iconbg-39"/>
          <p:cNvSpPr/>
          <p:nvPr/>
        </p:nvSpPr>
        <p:spPr>
          <a:xfrm>
            <a:off x="5097780" y="2400300"/>
            <a:ext cx="502920" cy="502920"/>
          </a:xfrm>
          <a:prstGeom prst="ellipse">
            <a:avLst/>
          </a:prstGeom>
          <a:solidFill>
            <a:schemeClr val="tx2"/>
          </a:solidFill>
          <a:ln/>
        </p:spPr>
      </p:sp>
      <p:pic>
        <p:nvPicPr>
          <p:cNvPr id="26" name="Image 5" descr="TrafficLight icon">    </p:cNvPr>
          <p:cNvPicPr>
            <a:picLocks noChangeAspect="1"/>
          </p:cNvPicPr>
          <p:nvPr/>
        </p:nvPicPr>
        <p:blipFill>
          <a:blip r:embed="rId6"/>
          <a:stretch>
            <a:fillRect/>
          </a:stretch>
        </p:blipFill>
        <p:spPr>
          <a:xfrm>
            <a:off x="5223510" y="2526030"/>
            <a:ext cx="251460" cy="251460"/>
          </a:xfrm>
          <a:prstGeom prst="rect">
            <a:avLst/>
          </a:prstGeom>
        </p:spPr>
      </p:pic>
      <p:sp>
        <p:nvSpPr>
          <p:cNvPr id="27" name="line-40"/>
          <p:cNvSpPr/>
          <p:nvPr/>
        </p:nvSpPr>
        <p:spPr>
          <a:xfrm>
            <a:off x="5650992" y="2651760"/>
            <a:ext cx="1847088" cy="137160"/>
          </a:xfrm>
          <a:prstGeom prst="line">
            <a:avLst/>
          </a:prstGeom>
          <a:noFill/>
          <a:ln w="15875">
            <a:solidFill>
              <a:schemeClr val="accent3"/>
            </a:solidFill>
            <a:prstDash val="solid"/>
            <a:tailEnd type="triangle"/>
          </a:ln>
        </p:spPr>
      </p:sp>
      <p:sp>
        <p:nvSpPr>
          <p:cNvPr id="28" name="iconbg-41"/>
          <p:cNvSpPr/>
          <p:nvPr/>
        </p:nvSpPr>
        <p:spPr>
          <a:xfrm>
            <a:off x="5097780" y="3086100"/>
            <a:ext cx="502920" cy="502920"/>
          </a:xfrm>
          <a:prstGeom prst="ellipse">
            <a:avLst/>
          </a:prstGeom>
          <a:solidFill>
            <a:schemeClr val="tx2"/>
          </a:solidFill>
          <a:ln/>
        </p:spPr>
      </p:sp>
      <p:pic>
        <p:nvPicPr>
          <p:cNvPr id="29" name="Image 6" descr="TrafficLight icon">    </p:cNvPr>
          <p:cNvPicPr>
            <a:picLocks noChangeAspect="1"/>
          </p:cNvPicPr>
          <p:nvPr/>
        </p:nvPicPr>
        <p:blipFill>
          <a:blip r:embed="rId7"/>
          <a:stretch>
            <a:fillRect/>
          </a:stretch>
        </p:blipFill>
        <p:spPr>
          <a:xfrm>
            <a:off x="5223510" y="3211830"/>
            <a:ext cx="251460" cy="251460"/>
          </a:xfrm>
          <a:prstGeom prst="rect">
            <a:avLst/>
          </a:prstGeom>
        </p:spPr>
      </p:pic>
      <p:sp>
        <p:nvSpPr>
          <p:cNvPr id="30" name="line-42"/>
          <p:cNvSpPr/>
          <p:nvPr/>
        </p:nvSpPr>
        <p:spPr>
          <a:xfrm flipV="1">
            <a:off x="5650992" y="2891790"/>
            <a:ext cx="1847088" cy="445770"/>
          </a:xfrm>
          <a:prstGeom prst="line">
            <a:avLst/>
          </a:prstGeom>
          <a:noFill/>
          <a:ln w="15875">
            <a:solidFill>
              <a:schemeClr val="accent3"/>
            </a:solidFill>
            <a:prstDash val="solid"/>
            <a:tailEnd type="triangle"/>
          </a:ln>
        </p:spPr>
      </p:sp>
      <p:sp>
        <p:nvSpPr>
          <p:cNvPr id="31" name="iconbg-43"/>
          <p:cNvSpPr/>
          <p:nvPr/>
        </p:nvSpPr>
        <p:spPr>
          <a:xfrm>
            <a:off x="7635240" y="2423160"/>
            <a:ext cx="731520" cy="731520"/>
          </a:xfrm>
          <a:prstGeom prst="ellipse">
            <a:avLst/>
          </a:prstGeom>
          <a:solidFill>
            <a:schemeClr val="accent3"/>
          </a:solidFill>
          <a:ln/>
        </p:spPr>
      </p:sp>
      <p:pic>
        <p:nvPicPr>
          <p:cNvPr id="32" name="Image 7" descr="Server icon">    </p:cNvPr>
          <p:cNvPicPr>
            <a:picLocks noChangeAspect="1"/>
          </p:cNvPicPr>
          <p:nvPr/>
        </p:nvPicPr>
        <p:blipFill>
          <a:blip r:embed="rId8"/>
          <a:stretch>
            <a:fillRect/>
          </a:stretch>
        </p:blipFill>
        <p:spPr>
          <a:xfrm>
            <a:off x="7818120" y="2606040"/>
            <a:ext cx="365760" cy="365760"/>
          </a:xfrm>
          <a:prstGeom prst="rect">
            <a:avLst/>
          </a:prstGeom>
        </p:spPr>
      </p:pic>
      <p:sp>
        <p:nvSpPr>
          <p:cNvPr id="33" name="text-44"/>
          <p:cNvSpPr txBox="1"/>
          <p:nvPr/>
        </p:nvSpPr>
        <p:spPr>
          <a:xfrm>
            <a:off x="5943600" y="1874520"/>
            <a:ext cx="1463040" cy="228600"/>
          </a:xfrm>
          <a:prstGeom prst="rect">
            <a:avLst/>
          </a:prstGeom>
          <a:noFill/>
          <a:ln/>
        </p:spPr>
        <p:txBody>
          <a:bodyPr wrap="square" lIns="0" tIns="0" rIns="0" bIns="0" rtlCol="0" anchor="t"/>
          <a:lstStyle/>
          <a:p>
            <a:pPr algn="ctr" indent="0" marL="0">
              <a:buNone/>
            </a:pPr>
            <a:r>
              <a:rPr lang="en-US" sz="1100" b="1" dirty="0">
                <a:solidFill>
                  <a:schemeClr val="accent3"/>
                </a:solidFill>
              </a:rPr>
              <a:t>tiny update</a:t>
            </a:r>
            <a:endParaRPr lang="en-US" sz="1100" dirty="0"/>
          </a:p>
        </p:txBody>
      </p:sp>
      <p:sp>
        <p:nvSpPr>
          <p:cNvPr id="34" name="text-45"/>
          <p:cNvSpPr txBox="1"/>
          <p:nvPr/>
        </p:nvSpPr>
        <p:spPr>
          <a:xfrm>
            <a:off x="4937760" y="3639312"/>
            <a:ext cx="3566160" cy="365760"/>
          </a:xfrm>
          <a:prstGeom prst="rect">
            <a:avLst/>
          </a:prstGeom>
          <a:noFill/>
          <a:ln/>
        </p:spPr>
        <p:txBody>
          <a:bodyPr wrap="square" lIns="0" tIns="0" rIns="0" bIns="0" rtlCol="0" anchor="t"/>
          <a:lstStyle/>
          <a:p>
            <a:pPr algn="l" indent="0" marL="0">
              <a:buNone/>
            </a:pPr>
            <a:r>
              <a:rPr lang="en-US" sz="1200" b="1" dirty="0">
                <a:solidFill>
                  <a:schemeClr val="tx1"/>
                </a:solidFill>
              </a:rPr>
              <a:t>Raw data stays at the junction. A better model comes back.</a:t>
            </a:r>
            <a:endParaRPr lang="en-US" sz="1200" dirty="0"/>
          </a:p>
        </p:txBody>
      </p:sp>
      <p:sp>
        <p:nvSpPr>
          <p:cNvPr id="35" name="node-46"/>
          <p:cNvSpPr txBox="1"/>
          <p:nvPr/>
        </p:nvSpPr>
        <p:spPr>
          <a:xfrm>
            <a:off x="457200" y="4206240"/>
            <a:ext cx="8229600" cy="457200"/>
          </a:xfrm>
          <a:prstGeom prst="roundRect">
            <a:avLst>
              <a:gd name="adj" fmla="val 16000"/>
            </a:avLst>
          </a:prstGeom>
          <a:solidFill>
            <a:schemeClr val="accent1"/>
          </a:solidFill>
          <a:ln/>
        </p:spPr>
        <p:txBody>
          <a:bodyPr wrap="square" lIns="635" tIns="635" rIns="635" bIns="635" rtlCol="0" anchor="ctr"/>
          <a:lstStyle/>
          <a:p>
            <a:pPr algn="ctr" indent="0" marL="0">
              <a:buNone/>
            </a:pPr>
            <a:r>
              <a:rPr lang="en-US" sz="1500" b="1" dirty="0">
                <a:solidFill>
                  <a:schemeClr val="bg1"/>
                </a:solidFill>
              </a:rPr>
              <a:t>Our twist: send an update only when it is useful and fits the byte budget.</a:t>
            </a:r>
            <a:endParaRPr lang="en-US" sz="1500" dirty="0"/>
          </a:p>
        </p:txBody>
      </p:sp>
      <p:sp>
        <p:nvSpPr>
          <p:cNvPr id="25" name="Slide Number Placeholder 0"/>
          <p:cNvSpPr>
            <a:spLocks noGrp="1"/>
          </p:cNvSpPr>
          <p:nvPr>
            <p:ph type="sldNum" sz="quarter" idx="4294967295"/>
          </p:nvPr>
        </p:nvSpPr>
        <p:spPr>
          <a:xfrm>
            <a:off x="7845552" y="4828032"/>
            <a:ext cx="658368"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header-label"/>
          <p:cNvSpPr txBox="1"/>
          <p:nvPr/>
        </p:nvSpPr>
        <p:spPr>
          <a:xfrm>
            <a:off x="2286000" y="91440"/>
            <a:ext cx="4572000" cy="228600"/>
          </a:xfrm>
          <a:prstGeom prst="rect">
            <a:avLst/>
          </a:prstGeom>
          <a:noFill/>
          <a:ln/>
        </p:spPr>
        <p:txBody>
          <a:bodyPr wrap="square" lIns="0" tIns="0" rIns="0" bIns="0" rtlCol="0" anchor="ctr"/>
          <a:lstStyle/>
          <a:p>
            <a:pPr algn="ctr" indent="0" marL="0">
              <a:buNone/>
            </a:pPr>
            <a:r>
              <a:rPr lang="en-US" sz="1000" b="1" dirty="0">
                <a:solidFill>
                  <a:schemeClr val="accent1"/>
                </a:solidFill>
              </a:rPr>
              <a:t>AIORI 3</a:t>
            </a:r>
            <a:pPr algn="ctr" indent="0" marL="0">
              <a:buNone/>
            </a:pPr>
            <a:r>
              <a:rPr lang="en-US" sz="1000" dirty="0">
                <a:solidFill>
                  <a:schemeClr val="accent1"/>
                </a:solidFill>
              </a:rPr>
              <a:t>     Literature &amp; RFC Review</a:t>
            </a:r>
            <a:endParaRPr lang="en-US" sz="1000" dirty="0"/>
          </a:p>
        </p:txBody>
      </p:sp>
      <p:sp>
        <p:nvSpPr>
          <p:cNvPr id="3" name="Text 2"/>
          <p:cNvSpPr/>
          <p:nvPr>
            <p:ph idx="102" type="title" hasCustomPrompt="1"/>
          </p:nvPr>
        </p:nvSpPr>
        <p:spPr>
          <a:xfrm>
            <a:off x="457200" y="347472"/>
            <a:ext cx="8229600" cy="566928"/>
          </a:xfrm>
          <a:prstGeom prst="rect">
            <a:avLst/>
          </a:prstGeom>
          <a:noFill/>
          <a:ln/>
        </p:spPr>
        <p:txBody>
          <a:bodyPr wrap="square" lIns="0" tIns="0" rIns="0" bIns="0" rtlCol="0" anchor="ctr"/>
          <a:lstStyle/>
          <a:p>
            <a:pPr algn="l" indent="0" marL="0">
              <a:buNone/>
            </a:pPr>
            <a:r>
              <a:rPr lang="en-US" sz="3200" b="1" dirty="0">
                <a:solidFill>
                  <a:schemeClr val="accent1"/>
                </a:solidFill>
              </a:rPr>
              <a:t>Literature &amp; RFC Review</a:t>
            </a:r>
            <a:endParaRPr lang="en-US" sz="3200" dirty="0"/>
          </a:p>
        </p:txBody>
      </p:sp>
      <p:graphicFrame>
        <p:nvGraphicFramePr>
          <p:cNvPr id="5" name="literature-table"/>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03120"/>
                <a:gridCol w="2926080"/>
                <a:gridCol w="3200400"/>
              </a:tblGrid>
              <a:tr h="365760">
                <a:tc>
                  <a:txBody>
                    <a:bodyPr/>
                    <a:lstStyle/>
                    <a:p>
                      <a:pPr indent="0" marL="0">
                        <a:buNone/>
                      </a:pPr>
                      <a:r>
                        <a:rPr lang="en-US" sz="1300" b="1" dirty="0">
                          <a:solidFill>
                            <a:srgbClr val="FFFFFF"/>
                          </a:solidFill>
                        </a:rPr>
                        <a:t>Idea</a:t>
                      </a:r>
                      <a:endParaRPr lang="en-US" sz="13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solidFill>
                      <a:srgbClr val="0B1366"/>
                    </a:solidFill>
                  </a:tcPr>
                </a:tc>
                <a:tc>
                  <a:txBody>
                    <a:bodyPr/>
                    <a:lstStyle/>
                    <a:p>
                      <a:pPr indent="0" marL="0">
                        <a:buNone/>
                      </a:pPr>
                      <a:r>
                        <a:rPr lang="en-US" sz="1300" b="1" dirty="0">
                          <a:solidFill>
                            <a:srgbClr val="FFFFFF"/>
                          </a:solidFill>
                        </a:rPr>
                        <a:t>Source</a:t>
                      </a:r>
                      <a:endParaRPr lang="en-US" sz="13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solidFill>
                      <a:srgbClr val="6B7194"/>
                    </a:solidFill>
                  </a:tcPr>
                </a:tc>
                <a:tc>
                  <a:txBody>
                    <a:bodyPr/>
                    <a:lstStyle/>
                    <a:p>
                      <a:pPr indent="0" marL="0">
                        <a:buNone/>
                      </a:pPr>
                      <a:r>
                        <a:rPr lang="en-US" sz="1300" b="1" dirty="0">
                          <a:solidFill>
                            <a:srgbClr val="FFFFFF"/>
                          </a:solidFill>
                        </a:rPr>
                        <a:t>How we use it</a:t>
                      </a:r>
                      <a:endParaRPr lang="en-US" sz="13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solidFill>
                      <a:srgbClr val="1020C8"/>
                    </a:solidFill>
                  </a:tcPr>
                </a:tc>
              </a:tr>
              <a:tr h="457200">
                <a:tc>
                  <a:txBody>
                    <a:bodyPr/>
                    <a:lstStyle/>
                    <a:p>
                      <a:pPr indent="0" marL="0">
                        <a:buNone/>
                      </a:pPr>
                      <a:r>
                        <a:rPr lang="en-US" sz="1200" b="1" dirty="0">
                          <a:solidFill>
                            <a:srgbClr val="1A1F3A"/>
                          </a:solidFill>
                        </a:rPr>
                        <a:t>Federated averaging</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dirty="0">
                          <a:solidFill>
                            <a:srgbClr val="1A1F3A"/>
                          </a:solidFill>
                        </a:rPr>
                        <a:t>McMahan et al., 2017 [1]</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dirty="0">
                          <a:solidFill>
                            <a:srgbClr val="1A1F3A"/>
                          </a:solidFill>
                        </a:rPr>
                        <a:t>Base training loop. We change when and what is sent.</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r>
              <a:tr h="457200">
                <a:tc>
                  <a:txBody>
                    <a:bodyPr/>
                    <a:lstStyle/>
                    <a:p>
                      <a:pPr indent="0" marL="0">
                        <a:buNone/>
                      </a:pPr>
                      <a:r>
                        <a:rPr lang="en-US" sz="1200" b="1" dirty="0">
                          <a:solidFill>
                            <a:srgbClr val="1A1F3A"/>
                          </a:solidFill>
                        </a:rPr>
                        <a:t>Sparse updates + error memory</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dirty="0">
                          <a:solidFill>
                            <a:srgbClr val="1A1F3A"/>
                          </a:solidFill>
                        </a:rPr>
                        <a:t>Aji 2017 [2]; Karimireddy 2019 [3]</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dirty="0">
                          <a:solidFill>
                            <a:srgbClr val="1A1F3A"/>
                          </a:solidFill>
                        </a:rPr>
                        <a:t>Send only big changes. Keep the rest for later.</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r>
              <a:tr h="457200">
                <a:tc>
                  <a:txBody>
                    <a:bodyPr/>
                    <a:lstStyle/>
                    <a:p>
                      <a:pPr indent="0" marL="0">
                        <a:buNone/>
                      </a:pPr>
                      <a:r>
                        <a:rPr lang="en-US" sz="1200" b="1" dirty="0">
                          <a:solidFill>
                            <a:srgbClr val="1A1F3A"/>
                          </a:solidFill>
                        </a:rPr>
                        <a:t>Traffic forecasting models</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dirty="0">
                          <a:solidFill>
                            <a:srgbClr val="1A1F3A"/>
                          </a:solidFill>
                        </a:rPr>
                        <a:t>STGCN [4]; DCRNN [5]</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dirty="0">
                          <a:solidFill>
                            <a:srgbClr val="1A1F3A"/>
                          </a:solidFill>
                        </a:rPr>
                        <a:t>Strong but big. We use a small baseline + GRU.</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r>
              <a:tr h="457200">
                <a:tc>
                  <a:txBody>
                    <a:bodyPr/>
                    <a:lstStyle/>
                    <a:p>
                      <a:pPr indent="0" marL="0">
                        <a:buNone/>
                      </a:pPr>
                      <a:r>
                        <a:rPr lang="en-US" sz="1200" b="1" dirty="0">
                          <a:solidFill>
                            <a:srgbClr val="1A1F3A"/>
                          </a:solidFill>
                        </a:rPr>
                        <a:t>Updates can leak information</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dirty="0">
                          <a:solidFill>
                            <a:srgbClr val="1A1F3A"/>
                          </a:solidFill>
                        </a:rPr>
                        <a:t>Zhu et al., 2019 [6]</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dirty="0">
                          <a:solidFill>
                            <a:srgbClr val="1A1F3A"/>
                          </a:solidFill>
                        </a:rPr>
                        <a:t>We encrypt links and state privacy limits honestly.</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r>
              <a:tr h="566928">
                <a:tc>
                  <a:txBody>
                    <a:bodyPr/>
                    <a:lstStyle/>
                    <a:p>
                      <a:pPr indent="0" marL="0">
                        <a:buNone/>
                      </a:pPr>
                      <a:r>
                        <a:rPr lang="en-US" sz="1200" b="1" dirty="0">
                          <a:solidFill>
                            <a:srgbClr val="1A1F3A"/>
                          </a:solidFill>
                        </a:rPr>
                        <a:t>Standards</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dirty="0">
                          <a:solidFill>
                            <a:srgbClr val="1A1F3A"/>
                          </a:solidFill>
                        </a:rPr>
                        <a:t>TLS 1.3 (RFC 8446) [7]; MQTT 5.0 [8]; CBOR (RFC 8949) [9]</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dirty="0">
                          <a:solidFill>
                            <a:srgbClr val="1A1F3A"/>
                          </a:solidFill>
                        </a:rPr>
                        <a:t>Secure link, light messages, compact binary format.</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r>
            </a:tbl>
          </a:graphicData>
        </a:graphic>
      </p:graphicFrame>
      <p:sp>
        <p:nvSpPr>
          <p:cNvPr id="6" name="node-47"/>
          <p:cNvSpPr txBox="1"/>
          <p:nvPr/>
        </p:nvSpPr>
        <p:spPr>
          <a:xfrm>
            <a:off x="457200" y="4023360"/>
            <a:ext cx="8229600" cy="594360"/>
          </a:xfrm>
          <a:prstGeom prst="roundRect">
            <a:avLst>
              <a:gd name="adj" fmla="val 12308"/>
            </a:avLst>
          </a:prstGeom>
          <a:solidFill>
            <a:schemeClr val="accent2">
              <a:alpha val="20000"/>
            </a:schemeClr>
          </a:solidFill>
          <a:ln/>
        </p:spPr>
        <p:txBody>
          <a:bodyPr wrap="square" lIns="1524" tIns="1524" rIns="1524" bIns="1524" rtlCol="0" anchor="ctr"/>
          <a:lstStyle/>
          <a:p>
            <a:pPr algn="l" indent="0" marL="0">
              <a:buNone/>
            </a:pPr>
            <a:r>
              <a:rPr lang="en-US" sz="1400" dirty="0">
                <a:solidFill>
                  <a:schemeClr val="tx1"/>
                </a:solidFill>
              </a:rPr>
              <a:t>Our focus: most work makes updates smaller. We also ask “Is this update worth sending?” and count every byte.</a:t>
            </a:r>
            <a:endParaRPr lang="en-US" sz="1400" dirty="0"/>
          </a:p>
        </p:txBody>
      </p:sp>
      <p:sp>
        <p:nvSpPr>
          <p:cNvPr id="25" name="Slide Number Placeholder 0"/>
          <p:cNvSpPr>
            <a:spLocks noGrp="1"/>
          </p:cNvSpPr>
          <p:nvPr>
            <p:ph type="sldNum" sz="quarter" idx="4294967295"/>
          </p:nvPr>
        </p:nvSpPr>
        <p:spPr>
          <a:xfrm>
            <a:off x="7845552" y="4828032"/>
            <a:ext cx="658368"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header-label"/>
          <p:cNvSpPr txBox="1"/>
          <p:nvPr/>
        </p:nvSpPr>
        <p:spPr>
          <a:xfrm>
            <a:off x="2286000" y="91440"/>
            <a:ext cx="4572000" cy="228600"/>
          </a:xfrm>
          <a:prstGeom prst="rect">
            <a:avLst/>
          </a:prstGeom>
          <a:noFill/>
          <a:ln/>
        </p:spPr>
        <p:txBody>
          <a:bodyPr wrap="square" lIns="0" tIns="0" rIns="0" bIns="0" rtlCol="0" anchor="ctr"/>
          <a:lstStyle/>
          <a:p>
            <a:pPr algn="ctr" indent="0" marL="0">
              <a:buNone/>
            </a:pPr>
            <a:r>
              <a:rPr lang="en-US" sz="1000" b="1" dirty="0">
                <a:solidFill>
                  <a:schemeClr val="accent1"/>
                </a:solidFill>
              </a:rPr>
              <a:t>AIORI 3</a:t>
            </a:r>
            <a:pPr algn="ctr" indent="0" marL="0">
              <a:buNone/>
            </a:pPr>
            <a:r>
              <a:rPr lang="en-US" sz="1000" dirty="0">
                <a:solidFill>
                  <a:schemeClr val="accent1"/>
                </a:solidFill>
              </a:rPr>
              <a:t>     Proposed Solution</a:t>
            </a:r>
            <a:endParaRPr lang="en-US" sz="1000" dirty="0"/>
          </a:p>
        </p:txBody>
      </p:sp>
      <p:sp>
        <p:nvSpPr>
          <p:cNvPr id="3" name="Text 2"/>
          <p:cNvSpPr/>
          <p:nvPr>
            <p:ph idx="102" type="title" hasCustomPrompt="1"/>
          </p:nvPr>
        </p:nvSpPr>
        <p:spPr>
          <a:xfrm>
            <a:off x="457200" y="347472"/>
            <a:ext cx="8229600" cy="566928"/>
          </a:xfrm>
          <a:prstGeom prst="rect">
            <a:avLst/>
          </a:prstGeom>
          <a:noFill/>
          <a:ln/>
        </p:spPr>
        <p:txBody>
          <a:bodyPr wrap="square" lIns="0" tIns="0" rIns="0" bIns="0" rtlCol="0" anchor="ctr"/>
          <a:lstStyle/>
          <a:p>
            <a:pPr algn="l" indent="0" marL="0">
              <a:buNone/>
            </a:pPr>
            <a:r>
              <a:rPr lang="en-US" sz="3200" b="1" dirty="0">
                <a:solidFill>
                  <a:schemeClr val="accent1"/>
                </a:solidFill>
              </a:rPr>
              <a:t>Proposed Solution</a:t>
            </a:r>
            <a:endParaRPr lang="en-US" sz="3200" dirty="0"/>
          </a:p>
        </p:txBody>
      </p:sp>
      <p:sp>
        <p:nvSpPr>
          <p:cNvPr id="5" name="line-48"/>
          <p:cNvSpPr/>
          <p:nvPr/>
        </p:nvSpPr>
        <p:spPr>
          <a:xfrm flipH="1" flipV="1">
            <a:off x="3474720" y="1417320"/>
            <a:ext cx="365760" cy="1005840"/>
          </a:xfrm>
          <a:prstGeom prst="line">
            <a:avLst/>
          </a:prstGeom>
          <a:noFill/>
          <a:ln w="28575">
            <a:solidFill>
              <a:schemeClr val="accent1"/>
            </a:solidFill>
            <a:prstDash val="solid"/>
          </a:ln>
        </p:spPr>
      </p:sp>
      <p:sp>
        <p:nvSpPr>
          <p:cNvPr id="6" name="line-49"/>
          <p:cNvSpPr/>
          <p:nvPr/>
        </p:nvSpPr>
        <p:spPr>
          <a:xfrm flipH="1" flipV="1">
            <a:off x="1737360" y="1106424"/>
            <a:ext cx="274320" cy="310896"/>
          </a:xfrm>
          <a:prstGeom prst="line">
            <a:avLst/>
          </a:prstGeom>
          <a:noFill/>
          <a:ln w="12700">
            <a:solidFill>
              <a:schemeClr val="accent1"/>
            </a:solidFill>
            <a:prstDash val="solid"/>
          </a:ln>
        </p:spPr>
      </p:sp>
      <p:sp>
        <p:nvSpPr>
          <p:cNvPr id="7" name="node-50"/>
          <p:cNvSpPr txBox="1"/>
          <p:nvPr/>
        </p:nvSpPr>
        <p:spPr>
          <a:xfrm>
            <a:off x="365760" y="978408"/>
            <a:ext cx="1371600" cy="256032"/>
          </a:xfrm>
          <a:prstGeom prst="roundRect">
            <a:avLst>
              <a:gd name="adj" fmla="val 42857"/>
            </a:avLst>
          </a:prstGeom>
          <a:solidFill>
            <a:schemeClr val="accent1">
              <a:alpha val="15000"/>
            </a:schemeClr>
          </a:solidFill>
          <a:ln/>
        </p:spPr>
        <p:txBody>
          <a:bodyPr wrap="square" lIns="254" tIns="254" rIns="254" bIns="254" rtlCol="0" anchor="ctr"/>
          <a:lstStyle/>
          <a:p>
            <a:pPr algn="ctr" indent="0" marL="0">
              <a:buNone/>
            </a:pPr>
            <a:r>
              <a:rPr lang="en-US" sz="1100" dirty="0">
                <a:solidFill>
                  <a:schemeClr val="tx1"/>
                </a:solidFill>
              </a:rPr>
              <a:t>Simple baseline</a:t>
            </a:r>
            <a:endParaRPr lang="en-US" sz="1100" dirty="0"/>
          </a:p>
        </p:txBody>
      </p:sp>
      <p:sp>
        <p:nvSpPr>
          <p:cNvPr id="8" name="line-51"/>
          <p:cNvSpPr/>
          <p:nvPr/>
        </p:nvSpPr>
        <p:spPr>
          <a:xfrm flipH="1">
            <a:off x="1737360" y="1417320"/>
            <a:ext cx="274320" cy="0"/>
          </a:xfrm>
          <a:prstGeom prst="line">
            <a:avLst/>
          </a:prstGeom>
          <a:noFill/>
          <a:ln w="12700">
            <a:solidFill>
              <a:schemeClr val="accent1"/>
            </a:solidFill>
            <a:prstDash val="solid"/>
          </a:ln>
        </p:spPr>
      </p:sp>
      <p:sp>
        <p:nvSpPr>
          <p:cNvPr id="9" name="node-52"/>
          <p:cNvSpPr txBox="1"/>
          <p:nvPr/>
        </p:nvSpPr>
        <p:spPr>
          <a:xfrm>
            <a:off x="365760" y="1289304"/>
            <a:ext cx="1371600" cy="256032"/>
          </a:xfrm>
          <a:prstGeom prst="roundRect">
            <a:avLst>
              <a:gd name="adj" fmla="val 42857"/>
            </a:avLst>
          </a:prstGeom>
          <a:solidFill>
            <a:schemeClr val="accent1">
              <a:alpha val="15000"/>
            </a:schemeClr>
          </a:solidFill>
          <a:ln/>
        </p:spPr>
        <p:txBody>
          <a:bodyPr wrap="square" lIns="254" tIns="254" rIns="254" bIns="254" rtlCol="0" anchor="ctr"/>
          <a:lstStyle/>
          <a:p>
            <a:pPr algn="ctr" indent="0" marL="0">
              <a:buNone/>
            </a:pPr>
            <a:r>
              <a:rPr lang="en-US" sz="1100" dirty="0">
                <a:solidFill>
                  <a:schemeClr val="tx1"/>
                </a:solidFill>
              </a:rPr>
              <a:t>Tiny GRU model</a:t>
            </a:r>
            <a:endParaRPr lang="en-US" sz="1100" dirty="0"/>
          </a:p>
        </p:txBody>
      </p:sp>
      <p:sp>
        <p:nvSpPr>
          <p:cNvPr id="10" name="line-53"/>
          <p:cNvSpPr/>
          <p:nvPr/>
        </p:nvSpPr>
        <p:spPr>
          <a:xfrm flipH="1">
            <a:off x="1737360" y="1417320"/>
            <a:ext cx="274320" cy="310896"/>
          </a:xfrm>
          <a:prstGeom prst="line">
            <a:avLst/>
          </a:prstGeom>
          <a:noFill/>
          <a:ln w="12700">
            <a:solidFill>
              <a:schemeClr val="accent1"/>
            </a:solidFill>
            <a:prstDash val="solid"/>
          </a:ln>
        </p:spPr>
      </p:sp>
      <p:sp>
        <p:nvSpPr>
          <p:cNvPr id="11" name="node-54"/>
          <p:cNvSpPr txBox="1"/>
          <p:nvPr/>
        </p:nvSpPr>
        <p:spPr>
          <a:xfrm>
            <a:off x="365760" y="1600200"/>
            <a:ext cx="1371600" cy="256032"/>
          </a:xfrm>
          <a:prstGeom prst="roundRect">
            <a:avLst>
              <a:gd name="adj" fmla="val 42857"/>
            </a:avLst>
          </a:prstGeom>
          <a:solidFill>
            <a:schemeClr val="accent1">
              <a:alpha val="15000"/>
            </a:schemeClr>
          </a:solidFill>
          <a:ln/>
        </p:spPr>
        <p:txBody>
          <a:bodyPr wrap="square" lIns="254" tIns="254" rIns="254" bIns="254" rtlCol="0" anchor="ctr"/>
          <a:lstStyle/>
          <a:p>
            <a:pPr algn="ctr" indent="0" marL="0">
              <a:buNone/>
            </a:pPr>
            <a:r>
              <a:rPr lang="en-US" sz="1100" dirty="0">
                <a:solidFill>
                  <a:schemeClr val="tx1"/>
                </a:solidFill>
              </a:rPr>
              <a:t>Private tweak</a:t>
            </a:r>
            <a:endParaRPr lang="en-US" sz="1100" dirty="0"/>
          </a:p>
        </p:txBody>
      </p:sp>
      <p:sp>
        <p:nvSpPr>
          <p:cNvPr id="12" name="node-55"/>
          <p:cNvSpPr txBox="1"/>
          <p:nvPr/>
        </p:nvSpPr>
        <p:spPr>
          <a:xfrm>
            <a:off x="2011680" y="1161288"/>
            <a:ext cx="1463040" cy="512064"/>
          </a:xfrm>
          <a:prstGeom prst="roundRect">
            <a:avLst>
              <a:gd name="adj" fmla="val 14286"/>
            </a:avLst>
          </a:prstGeom>
          <a:solidFill>
            <a:schemeClr val="accent1"/>
          </a:solidFill>
          <a:ln/>
        </p:spPr>
        <p:txBody>
          <a:bodyPr wrap="square" lIns="635" tIns="635" rIns="635" bIns="635" rtlCol="0" anchor="ctr"/>
          <a:lstStyle/>
          <a:p>
            <a:pPr algn="ctr" indent="0" marL="0">
              <a:buNone/>
            </a:pPr>
            <a:r>
              <a:rPr lang="en-US" sz="1200" b="1" dirty="0">
                <a:solidFill>
                  <a:schemeClr val="bg1"/>
                </a:solidFill>
              </a:rPr>
              <a:t>1 Predict locally</a:t>
            </a:r>
            <a:endParaRPr lang="en-US" sz="1200" dirty="0"/>
          </a:p>
        </p:txBody>
      </p:sp>
      <p:sp>
        <p:nvSpPr>
          <p:cNvPr id="13" name="line-56"/>
          <p:cNvSpPr/>
          <p:nvPr/>
        </p:nvSpPr>
        <p:spPr>
          <a:xfrm flipH="1">
            <a:off x="3474720" y="2423160"/>
            <a:ext cx="365760" cy="0"/>
          </a:xfrm>
          <a:prstGeom prst="line">
            <a:avLst/>
          </a:prstGeom>
          <a:noFill/>
          <a:ln w="28575">
            <a:solidFill>
              <a:schemeClr val="accent4"/>
            </a:solidFill>
            <a:prstDash val="solid"/>
          </a:ln>
        </p:spPr>
      </p:sp>
      <p:sp>
        <p:nvSpPr>
          <p:cNvPr id="14" name="line-57"/>
          <p:cNvSpPr/>
          <p:nvPr/>
        </p:nvSpPr>
        <p:spPr>
          <a:xfrm flipH="1" flipV="1">
            <a:off x="1737360" y="2112264"/>
            <a:ext cx="274320" cy="310896"/>
          </a:xfrm>
          <a:prstGeom prst="line">
            <a:avLst/>
          </a:prstGeom>
          <a:noFill/>
          <a:ln w="12700">
            <a:solidFill>
              <a:schemeClr val="accent4"/>
            </a:solidFill>
            <a:prstDash val="solid"/>
          </a:ln>
        </p:spPr>
      </p:sp>
      <p:sp>
        <p:nvSpPr>
          <p:cNvPr id="15" name="node-58"/>
          <p:cNvSpPr txBox="1"/>
          <p:nvPr/>
        </p:nvSpPr>
        <p:spPr>
          <a:xfrm>
            <a:off x="365760" y="1984248"/>
            <a:ext cx="1371600" cy="256032"/>
          </a:xfrm>
          <a:prstGeom prst="roundRect">
            <a:avLst>
              <a:gd name="adj" fmla="val 42857"/>
            </a:avLst>
          </a:prstGeom>
          <a:solidFill>
            <a:schemeClr val="accent4">
              <a:alpha val="15000"/>
            </a:schemeClr>
          </a:solidFill>
          <a:ln/>
        </p:spPr>
        <p:txBody>
          <a:bodyPr wrap="square" lIns="254" tIns="254" rIns="254" bIns="254" rtlCol="0" anchor="ctr"/>
          <a:lstStyle/>
          <a:p>
            <a:pPr algn="ctr" indent="0" marL="0">
              <a:buNone/>
            </a:pPr>
            <a:r>
              <a:rPr lang="en-US" sz="1100" dirty="0">
                <a:solidFill>
                  <a:schemeClr val="tx1"/>
                </a:solidFill>
              </a:rPr>
              <a:t>Only 2–3 numbers</a:t>
            </a:r>
            <a:endParaRPr lang="en-US" sz="1100" dirty="0"/>
          </a:p>
        </p:txBody>
      </p:sp>
      <p:sp>
        <p:nvSpPr>
          <p:cNvPr id="16" name="line-59"/>
          <p:cNvSpPr/>
          <p:nvPr/>
        </p:nvSpPr>
        <p:spPr>
          <a:xfrm flipH="1">
            <a:off x="1737360" y="2423160"/>
            <a:ext cx="274320" cy="0"/>
          </a:xfrm>
          <a:prstGeom prst="line">
            <a:avLst/>
          </a:prstGeom>
          <a:noFill/>
          <a:ln w="12700">
            <a:solidFill>
              <a:schemeClr val="accent4"/>
            </a:solidFill>
            <a:prstDash val="solid"/>
          </a:ln>
        </p:spPr>
      </p:sp>
      <p:sp>
        <p:nvSpPr>
          <p:cNvPr id="17" name="node-60"/>
          <p:cNvSpPr txBox="1"/>
          <p:nvPr/>
        </p:nvSpPr>
        <p:spPr>
          <a:xfrm>
            <a:off x="365760" y="2295144"/>
            <a:ext cx="1371600" cy="256032"/>
          </a:xfrm>
          <a:prstGeom prst="roundRect">
            <a:avLst>
              <a:gd name="adj" fmla="val 42857"/>
            </a:avLst>
          </a:prstGeom>
          <a:solidFill>
            <a:schemeClr val="accent4">
              <a:alpha val="15000"/>
            </a:schemeClr>
          </a:solidFill>
          <a:ln/>
        </p:spPr>
        <p:txBody>
          <a:bodyPr wrap="square" lIns="254" tIns="254" rIns="254" bIns="254" rtlCol="0" anchor="ctr"/>
          <a:lstStyle/>
          <a:p>
            <a:pPr algn="ctr" indent="0" marL="0">
              <a:buNone/>
            </a:pPr>
            <a:r>
              <a:rPr lang="en-US" sz="1100" dirty="0">
                <a:solidFill>
                  <a:schemeClr val="tx1"/>
                </a:solidFill>
              </a:rPr>
              <a:t>Old hints expire</a:t>
            </a:r>
            <a:endParaRPr lang="en-US" sz="1100" dirty="0"/>
          </a:p>
        </p:txBody>
      </p:sp>
      <p:sp>
        <p:nvSpPr>
          <p:cNvPr id="18" name="line-61"/>
          <p:cNvSpPr/>
          <p:nvPr/>
        </p:nvSpPr>
        <p:spPr>
          <a:xfrm flipH="1">
            <a:off x="1737360" y="2423160"/>
            <a:ext cx="274320" cy="310896"/>
          </a:xfrm>
          <a:prstGeom prst="line">
            <a:avLst/>
          </a:prstGeom>
          <a:noFill/>
          <a:ln w="12700">
            <a:solidFill>
              <a:schemeClr val="accent4"/>
            </a:solidFill>
            <a:prstDash val="solid"/>
          </a:ln>
        </p:spPr>
      </p:sp>
      <p:sp>
        <p:nvSpPr>
          <p:cNvPr id="19" name="node-62"/>
          <p:cNvSpPr txBox="1"/>
          <p:nvPr/>
        </p:nvSpPr>
        <p:spPr>
          <a:xfrm>
            <a:off x="365760" y="2606040"/>
            <a:ext cx="1371600" cy="256032"/>
          </a:xfrm>
          <a:prstGeom prst="roundRect">
            <a:avLst>
              <a:gd name="adj" fmla="val 42857"/>
            </a:avLst>
          </a:prstGeom>
          <a:solidFill>
            <a:schemeClr val="accent4">
              <a:alpha val="15000"/>
            </a:schemeClr>
          </a:solidFill>
          <a:ln/>
        </p:spPr>
        <p:txBody>
          <a:bodyPr wrap="square" lIns="254" tIns="254" rIns="254" bIns="254" rtlCol="0" anchor="ctr"/>
          <a:lstStyle/>
          <a:p>
            <a:pPr algn="ctr" indent="0" marL="0">
              <a:buNone/>
            </a:pPr>
            <a:r>
              <a:rPr lang="en-US" sz="1100" dirty="0">
                <a:solidFill>
                  <a:schemeClr val="tx1"/>
                </a:solidFill>
              </a:rPr>
              <a:t>No raw data sent</a:t>
            </a:r>
            <a:endParaRPr lang="en-US" sz="1100" dirty="0"/>
          </a:p>
        </p:txBody>
      </p:sp>
      <p:sp>
        <p:nvSpPr>
          <p:cNvPr id="20" name="node-63"/>
          <p:cNvSpPr txBox="1"/>
          <p:nvPr/>
        </p:nvSpPr>
        <p:spPr>
          <a:xfrm>
            <a:off x="2011680" y="2167128"/>
            <a:ext cx="1463040" cy="512064"/>
          </a:xfrm>
          <a:prstGeom prst="roundRect">
            <a:avLst>
              <a:gd name="adj" fmla="val 14286"/>
            </a:avLst>
          </a:prstGeom>
          <a:solidFill>
            <a:schemeClr val="accent4"/>
          </a:solidFill>
          <a:ln/>
        </p:spPr>
        <p:txBody>
          <a:bodyPr wrap="square" lIns="635" tIns="635" rIns="635" bIns="635" rtlCol="0" anchor="ctr"/>
          <a:lstStyle/>
          <a:p>
            <a:pPr algn="ctr" indent="0" marL="0">
              <a:buNone/>
            </a:pPr>
            <a:r>
              <a:rPr lang="en-US" sz="1200" b="1" dirty="0">
                <a:solidFill>
                  <a:schemeClr val="bg1"/>
                </a:solidFill>
              </a:rPr>
              <a:t>2 Share small hints</a:t>
            </a:r>
            <a:endParaRPr lang="en-US" sz="1200" dirty="0"/>
          </a:p>
        </p:txBody>
      </p:sp>
      <p:sp>
        <p:nvSpPr>
          <p:cNvPr id="21" name="line-64"/>
          <p:cNvSpPr/>
          <p:nvPr/>
        </p:nvSpPr>
        <p:spPr>
          <a:xfrm flipH="1">
            <a:off x="3474720" y="2423160"/>
            <a:ext cx="365760" cy="1005840"/>
          </a:xfrm>
          <a:prstGeom prst="line">
            <a:avLst/>
          </a:prstGeom>
          <a:noFill/>
          <a:ln w="28575">
            <a:solidFill>
              <a:schemeClr val="accent2"/>
            </a:solidFill>
            <a:prstDash val="solid"/>
          </a:ln>
        </p:spPr>
      </p:sp>
      <p:sp>
        <p:nvSpPr>
          <p:cNvPr id="22" name="line-65"/>
          <p:cNvSpPr/>
          <p:nvPr/>
        </p:nvSpPr>
        <p:spPr>
          <a:xfrm flipH="1" flipV="1">
            <a:off x="1737360" y="3118104"/>
            <a:ext cx="274320" cy="310896"/>
          </a:xfrm>
          <a:prstGeom prst="line">
            <a:avLst/>
          </a:prstGeom>
          <a:noFill/>
          <a:ln w="12700">
            <a:solidFill>
              <a:schemeClr val="accent2"/>
            </a:solidFill>
            <a:prstDash val="solid"/>
          </a:ln>
        </p:spPr>
      </p:sp>
      <p:sp>
        <p:nvSpPr>
          <p:cNvPr id="23" name="node-66"/>
          <p:cNvSpPr txBox="1"/>
          <p:nvPr/>
        </p:nvSpPr>
        <p:spPr>
          <a:xfrm>
            <a:off x="365760" y="2990088"/>
            <a:ext cx="1371600" cy="256032"/>
          </a:xfrm>
          <a:prstGeom prst="roundRect">
            <a:avLst>
              <a:gd name="adj" fmla="val 42857"/>
            </a:avLst>
          </a:prstGeom>
          <a:solidFill>
            <a:schemeClr val="accent2">
              <a:alpha val="15000"/>
            </a:schemeClr>
          </a:solidFill>
          <a:ln/>
        </p:spPr>
        <p:txBody>
          <a:bodyPr wrap="square" lIns="254" tIns="254" rIns="254" bIns="254" rtlCol="0" anchor="ctr"/>
          <a:lstStyle/>
          <a:p>
            <a:pPr algn="ctr" indent="0" marL="0">
              <a:buNone/>
            </a:pPr>
            <a:r>
              <a:rPr lang="en-US" sz="1100" dirty="0">
                <a:solidFill>
                  <a:schemeClr val="tx1"/>
                </a:solidFill>
              </a:rPr>
              <a:t>Wakes on surprise</a:t>
            </a:r>
            <a:endParaRPr lang="en-US" sz="1100" dirty="0"/>
          </a:p>
        </p:txBody>
      </p:sp>
      <p:sp>
        <p:nvSpPr>
          <p:cNvPr id="24" name="line-67"/>
          <p:cNvSpPr/>
          <p:nvPr/>
        </p:nvSpPr>
        <p:spPr>
          <a:xfrm flipH="1">
            <a:off x="1737360" y="3429000"/>
            <a:ext cx="274320" cy="0"/>
          </a:xfrm>
          <a:prstGeom prst="line">
            <a:avLst/>
          </a:prstGeom>
          <a:noFill/>
          <a:ln w="12700">
            <a:solidFill>
              <a:schemeClr val="accent2"/>
            </a:solidFill>
            <a:prstDash val="solid"/>
          </a:ln>
        </p:spPr>
      </p:sp>
      <p:sp>
        <p:nvSpPr>
          <p:cNvPr id="25" name="node-68"/>
          <p:cNvSpPr txBox="1"/>
          <p:nvPr/>
        </p:nvSpPr>
        <p:spPr>
          <a:xfrm>
            <a:off x="365760" y="3300984"/>
            <a:ext cx="1371600" cy="256032"/>
          </a:xfrm>
          <a:prstGeom prst="roundRect">
            <a:avLst>
              <a:gd name="adj" fmla="val 42857"/>
            </a:avLst>
          </a:prstGeom>
          <a:solidFill>
            <a:schemeClr val="accent2">
              <a:alpha val="15000"/>
            </a:schemeClr>
          </a:solidFill>
          <a:ln/>
        </p:spPr>
        <p:txBody>
          <a:bodyPr wrap="square" lIns="254" tIns="254" rIns="254" bIns="254" rtlCol="0" anchor="ctr"/>
          <a:lstStyle/>
          <a:p>
            <a:pPr algn="ctr" indent="0" marL="0">
              <a:buNone/>
            </a:pPr>
            <a:r>
              <a:rPr lang="en-US" sz="1100" dirty="0">
                <a:solidFill>
                  <a:schemeClr val="tx1"/>
                </a:solidFill>
              </a:rPr>
              <a:t>3 size options</a:t>
            </a:r>
            <a:endParaRPr lang="en-US" sz="1100" dirty="0"/>
          </a:p>
        </p:txBody>
      </p:sp>
      <p:sp>
        <p:nvSpPr>
          <p:cNvPr id="26" name="line-69"/>
          <p:cNvSpPr/>
          <p:nvPr/>
        </p:nvSpPr>
        <p:spPr>
          <a:xfrm flipH="1">
            <a:off x="1737360" y="3429000"/>
            <a:ext cx="274320" cy="310896"/>
          </a:xfrm>
          <a:prstGeom prst="line">
            <a:avLst/>
          </a:prstGeom>
          <a:noFill/>
          <a:ln w="12700">
            <a:solidFill>
              <a:schemeClr val="accent2"/>
            </a:solidFill>
            <a:prstDash val="solid"/>
          </a:ln>
        </p:spPr>
      </p:sp>
      <p:sp>
        <p:nvSpPr>
          <p:cNvPr id="27" name="node-70"/>
          <p:cNvSpPr txBox="1"/>
          <p:nvPr/>
        </p:nvSpPr>
        <p:spPr>
          <a:xfrm>
            <a:off x="365760" y="3611880"/>
            <a:ext cx="1371600" cy="256032"/>
          </a:xfrm>
          <a:prstGeom prst="roundRect">
            <a:avLst>
              <a:gd name="adj" fmla="val 42857"/>
            </a:avLst>
          </a:prstGeom>
          <a:solidFill>
            <a:schemeClr val="accent2">
              <a:alpha val="15000"/>
            </a:schemeClr>
          </a:solidFill>
          <a:ln/>
        </p:spPr>
        <p:txBody>
          <a:bodyPr wrap="square" lIns="254" tIns="254" rIns="254" bIns="254" rtlCol="0" anchor="ctr"/>
          <a:lstStyle/>
          <a:p>
            <a:pPr algn="ctr" indent="0" marL="0">
              <a:buNone/>
            </a:pPr>
            <a:r>
              <a:rPr lang="en-US" sz="1100" dirty="0">
                <a:solidFill>
                  <a:schemeClr val="tx1"/>
                </a:solidFill>
              </a:rPr>
              <a:t>Test, then send</a:t>
            </a:r>
            <a:endParaRPr lang="en-US" sz="1100" dirty="0"/>
          </a:p>
        </p:txBody>
      </p:sp>
      <p:sp>
        <p:nvSpPr>
          <p:cNvPr id="28" name="node-71"/>
          <p:cNvSpPr txBox="1"/>
          <p:nvPr/>
        </p:nvSpPr>
        <p:spPr>
          <a:xfrm>
            <a:off x="2011680" y="3172968"/>
            <a:ext cx="1463040" cy="512064"/>
          </a:xfrm>
          <a:prstGeom prst="roundRect">
            <a:avLst>
              <a:gd name="adj" fmla="val 14286"/>
            </a:avLst>
          </a:prstGeom>
          <a:solidFill>
            <a:schemeClr val="accent2"/>
          </a:solidFill>
          <a:ln/>
        </p:spPr>
        <p:txBody>
          <a:bodyPr wrap="square" lIns="635" tIns="635" rIns="635" bIns="635" rtlCol="0" anchor="ctr"/>
          <a:lstStyle/>
          <a:p>
            <a:pPr algn="ctr" indent="0" marL="0">
              <a:buNone/>
            </a:pPr>
            <a:r>
              <a:rPr lang="en-US" sz="1200" b="1" dirty="0">
                <a:solidFill>
                  <a:schemeClr val="bg1"/>
                </a:solidFill>
              </a:rPr>
              <a:t>3 Test before sending</a:t>
            </a:r>
            <a:endParaRPr lang="en-US" sz="1200" dirty="0"/>
          </a:p>
        </p:txBody>
      </p:sp>
      <p:sp>
        <p:nvSpPr>
          <p:cNvPr id="29" name="line-72"/>
          <p:cNvSpPr/>
          <p:nvPr/>
        </p:nvSpPr>
        <p:spPr>
          <a:xfrm flipV="1">
            <a:off x="5303520" y="1920240"/>
            <a:ext cx="365760" cy="502920"/>
          </a:xfrm>
          <a:prstGeom prst="line">
            <a:avLst/>
          </a:prstGeom>
          <a:noFill/>
          <a:ln w="28575">
            <a:solidFill>
              <a:schemeClr val="accent3"/>
            </a:solidFill>
            <a:prstDash val="solid"/>
          </a:ln>
        </p:spPr>
      </p:sp>
      <p:sp>
        <p:nvSpPr>
          <p:cNvPr id="30" name="line-73"/>
          <p:cNvSpPr/>
          <p:nvPr/>
        </p:nvSpPr>
        <p:spPr>
          <a:xfrm flipV="1">
            <a:off x="7132320" y="1609344"/>
            <a:ext cx="274320" cy="310896"/>
          </a:xfrm>
          <a:prstGeom prst="line">
            <a:avLst/>
          </a:prstGeom>
          <a:noFill/>
          <a:ln w="12700">
            <a:solidFill>
              <a:schemeClr val="accent3"/>
            </a:solidFill>
            <a:prstDash val="solid"/>
          </a:ln>
        </p:spPr>
      </p:sp>
      <p:sp>
        <p:nvSpPr>
          <p:cNvPr id="31" name="node-74"/>
          <p:cNvSpPr txBox="1"/>
          <p:nvPr/>
        </p:nvSpPr>
        <p:spPr>
          <a:xfrm>
            <a:off x="7406640" y="1481328"/>
            <a:ext cx="1371600" cy="256032"/>
          </a:xfrm>
          <a:prstGeom prst="roundRect">
            <a:avLst>
              <a:gd name="adj" fmla="val 42857"/>
            </a:avLst>
          </a:prstGeom>
          <a:solidFill>
            <a:schemeClr val="accent3">
              <a:alpha val="15000"/>
            </a:schemeClr>
          </a:solidFill>
          <a:ln/>
        </p:spPr>
        <p:txBody>
          <a:bodyPr wrap="square" lIns="254" tIns="254" rIns="254" bIns="254" rtlCol="0" anchor="ctr"/>
          <a:lstStyle/>
          <a:p>
            <a:pPr algn="ctr" indent="0" marL="0">
              <a:buNone/>
            </a:pPr>
            <a:r>
              <a:rPr lang="en-US" sz="1100" dirty="0">
                <a:solidFill>
                  <a:schemeClr val="tx1"/>
                </a:solidFill>
              </a:rPr>
              <a:t>Gain per byte</a:t>
            </a:r>
            <a:endParaRPr lang="en-US" sz="1100" dirty="0"/>
          </a:p>
        </p:txBody>
      </p:sp>
      <p:sp>
        <p:nvSpPr>
          <p:cNvPr id="32" name="line-75"/>
          <p:cNvSpPr/>
          <p:nvPr/>
        </p:nvSpPr>
        <p:spPr>
          <a:xfrm>
            <a:off x="7132320" y="1920240"/>
            <a:ext cx="274320" cy="0"/>
          </a:xfrm>
          <a:prstGeom prst="line">
            <a:avLst/>
          </a:prstGeom>
          <a:noFill/>
          <a:ln w="12700">
            <a:solidFill>
              <a:schemeClr val="accent3"/>
            </a:solidFill>
            <a:prstDash val="solid"/>
          </a:ln>
        </p:spPr>
      </p:sp>
      <p:sp>
        <p:nvSpPr>
          <p:cNvPr id="33" name="node-76"/>
          <p:cNvSpPr txBox="1"/>
          <p:nvPr/>
        </p:nvSpPr>
        <p:spPr>
          <a:xfrm>
            <a:off x="7406640" y="1792224"/>
            <a:ext cx="1371600" cy="256032"/>
          </a:xfrm>
          <a:prstGeom prst="roundRect">
            <a:avLst>
              <a:gd name="adj" fmla="val 42857"/>
            </a:avLst>
          </a:prstGeom>
          <a:solidFill>
            <a:schemeClr val="accent3">
              <a:alpha val="15000"/>
            </a:schemeClr>
          </a:solidFill>
          <a:ln/>
        </p:spPr>
        <p:txBody>
          <a:bodyPr wrap="square" lIns="254" tIns="254" rIns="254" bIns="254" rtlCol="0" anchor="ctr"/>
          <a:lstStyle/>
          <a:p>
            <a:pPr algn="ctr" indent="0" marL="0">
              <a:buNone/>
            </a:pPr>
            <a:r>
              <a:rPr lang="en-US" sz="1100" dirty="0">
                <a:solidFill>
                  <a:schemeClr val="tx1"/>
                </a:solidFill>
              </a:rPr>
              <a:t>Fairness reserve</a:t>
            </a:r>
            <a:endParaRPr lang="en-US" sz="1100" dirty="0"/>
          </a:p>
        </p:txBody>
      </p:sp>
      <p:sp>
        <p:nvSpPr>
          <p:cNvPr id="34" name="line-77"/>
          <p:cNvSpPr/>
          <p:nvPr/>
        </p:nvSpPr>
        <p:spPr>
          <a:xfrm>
            <a:off x="7132320" y="1920240"/>
            <a:ext cx="274320" cy="310896"/>
          </a:xfrm>
          <a:prstGeom prst="line">
            <a:avLst/>
          </a:prstGeom>
          <a:noFill/>
          <a:ln w="12700">
            <a:solidFill>
              <a:schemeClr val="accent3"/>
            </a:solidFill>
            <a:prstDash val="solid"/>
          </a:ln>
        </p:spPr>
      </p:sp>
      <p:sp>
        <p:nvSpPr>
          <p:cNvPr id="35" name="node-78"/>
          <p:cNvSpPr txBox="1"/>
          <p:nvPr/>
        </p:nvSpPr>
        <p:spPr>
          <a:xfrm>
            <a:off x="7406640" y="2103120"/>
            <a:ext cx="1371600" cy="256032"/>
          </a:xfrm>
          <a:prstGeom prst="roundRect">
            <a:avLst>
              <a:gd name="adj" fmla="val 42857"/>
            </a:avLst>
          </a:prstGeom>
          <a:solidFill>
            <a:schemeClr val="accent3">
              <a:alpha val="15000"/>
            </a:schemeClr>
          </a:solidFill>
          <a:ln/>
        </p:spPr>
        <p:txBody>
          <a:bodyPr wrap="square" lIns="254" tIns="254" rIns="254" bIns="254" rtlCol="0" anchor="ctr"/>
          <a:lstStyle/>
          <a:p>
            <a:pPr algn="ctr" indent="0" marL="0">
              <a:buNone/>
            </a:pPr>
            <a:r>
              <a:rPr lang="en-US" sz="1100" dirty="0">
                <a:solidFill>
                  <a:schemeClr val="tx1"/>
                </a:solidFill>
              </a:rPr>
              <a:t>Safe merging</a:t>
            </a:r>
            <a:endParaRPr lang="en-US" sz="1100" dirty="0"/>
          </a:p>
        </p:txBody>
      </p:sp>
      <p:sp>
        <p:nvSpPr>
          <p:cNvPr id="36" name="node-79"/>
          <p:cNvSpPr txBox="1"/>
          <p:nvPr/>
        </p:nvSpPr>
        <p:spPr>
          <a:xfrm>
            <a:off x="5669280" y="1664208"/>
            <a:ext cx="1463040" cy="512064"/>
          </a:xfrm>
          <a:prstGeom prst="roundRect">
            <a:avLst>
              <a:gd name="adj" fmla="val 14286"/>
            </a:avLst>
          </a:prstGeom>
          <a:solidFill>
            <a:schemeClr val="accent3"/>
          </a:solidFill>
          <a:ln/>
        </p:spPr>
        <p:txBody>
          <a:bodyPr wrap="square" lIns="635" tIns="635" rIns="635" bIns="635" rtlCol="0" anchor="ctr"/>
          <a:lstStyle/>
          <a:p>
            <a:pPr algn="ctr" indent="0" marL="0">
              <a:buNone/>
            </a:pPr>
            <a:r>
              <a:rPr lang="en-US" sz="1200" b="1" dirty="0">
                <a:solidFill>
                  <a:schemeClr val="bg1"/>
                </a:solidFill>
              </a:rPr>
              <a:t>4 Spend a byte budget</a:t>
            </a:r>
            <a:endParaRPr lang="en-US" sz="1200" dirty="0"/>
          </a:p>
        </p:txBody>
      </p:sp>
      <p:sp>
        <p:nvSpPr>
          <p:cNvPr id="37" name="line-80"/>
          <p:cNvSpPr/>
          <p:nvPr/>
        </p:nvSpPr>
        <p:spPr>
          <a:xfrm>
            <a:off x="5303520" y="2423160"/>
            <a:ext cx="365760" cy="502920"/>
          </a:xfrm>
          <a:prstGeom prst="line">
            <a:avLst/>
          </a:prstGeom>
          <a:noFill/>
          <a:ln w="28575">
            <a:solidFill>
              <a:schemeClr val="tx2"/>
            </a:solidFill>
            <a:prstDash val="solid"/>
          </a:ln>
        </p:spPr>
      </p:sp>
      <p:sp>
        <p:nvSpPr>
          <p:cNvPr id="38" name="line-81"/>
          <p:cNvSpPr/>
          <p:nvPr/>
        </p:nvSpPr>
        <p:spPr>
          <a:xfrm flipV="1">
            <a:off x="7132320" y="2615184"/>
            <a:ext cx="274320" cy="310896"/>
          </a:xfrm>
          <a:prstGeom prst="line">
            <a:avLst/>
          </a:prstGeom>
          <a:noFill/>
          <a:ln w="12700">
            <a:solidFill>
              <a:schemeClr val="tx2"/>
            </a:solidFill>
            <a:prstDash val="solid"/>
          </a:ln>
        </p:spPr>
      </p:sp>
      <p:sp>
        <p:nvSpPr>
          <p:cNvPr id="39" name="node-82"/>
          <p:cNvSpPr txBox="1"/>
          <p:nvPr/>
        </p:nvSpPr>
        <p:spPr>
          <a:xfrm>
            <a:off x="7406640" y="2487168"/>
            <a:ext cx="1371600" cy="256032"/>
          </a:xfrm>
          <a:prstGeom prst="roundRect">
            <a:avLst>
              <a:gd name="adj" fmla="val 42857"/>
            </a:avLst>
          </a:prstGeom>
          <a:solidFill>
            <a:schemeClr val="tx2">
              <a:alpha val="15000"/>
            </a:schemeClr>
          </a:solidFill>
          <a:ln/>
        </p:spPr>
        <p:txBody>
          <a:bodyPr wrap="square" lIns="254" tIns="254" rIns="254" bIns="254" rtlCol="0" anchor="ctr"/>
          <a:lstStyle/>
          <a:p>
            <a:pPr algn="ctr" indent="0" marL="0">
              <a:buNone/>
            </a:pPr>
            <a:r>
              <a:rPr lang="en-US" sz="1100" dirty="0">
                <a:solidFill>
                  <a:schemeClr val="tx1"/>
                </a:solidFill>
              </a:rPr>
              <a:t>Byte ledger</a:t>
            </a:r>
            <a:endParaRPr lang="en-US" sz="1100" dirty="0"/>
          </a:p>
        </p:txBody>
      </p:sp>
      <p:sp>
        <p:nvSpPr>
          <p:cNvPr id="40" name="line-83"/>
          <p:cNvSpPr/>
          <p:nvPr/>
        </p:nvSpPr>
        <p:spPr>
          <a:xfrm>
            <a:off x="7132320" y="2926080"/>
            <a:ext cx="274320" cy="0"/>
          </a:xfrm>
          <a:prstGeom prst="line">
            <a:avLst/>
          </a:prstGeom>
          <a:noFill/>
          <a:ln w="12700">
            <a:solidFill>
              <a:schemeClr val="tx2"/>
            </a:solidFill>
            <a:prstDash val="solid"/>
          </a:ln>
        </p:spPr>
      </p:sp>
      <p:sp>
        <p:nvSpPr>
          <p:cNvPr id="41" name="node-84"/>
          <p:cNvSpPr txBox="1"/>
          <p:nvPr/>
        </p:nvSpPr>
        <p:spPr>
          <a:xfrm>
            <a:off x="7406640" y="2798064"/>
            <a:ext cx="1371600" cy="256032"/>
          </a:xfrm>
          <a:prstGeom prst="roundRect">
            <a:avLst>
              <a:gd name="adj" fmla="val 42857"/>
            </a:avLst>
          </a:prstGeom>
          <a:solidFill>
            <a:schemeClr val="tx2">
              <a:alpha val="15000"/>
            </a:schemeClr>
          </a:solidFill>
          <a:ln/>
        </p:spPr>
        <p:txBody>
          <a:bodyPr wrap="square" lIns="254" tIns="254" rIns="254" bIns="254" rtlCol="0" anchor="ctr"/>
          <a:lstStyle/>
          <a:p>
            <a:pPr algn="ctr" indent="0" marL="0">
              <a:buNone/>
            </a:pPr>
            <a:r>
              <a:rPr lang="en-US" sz="1100" dirty="0">
                <a:solidFill>
                  <a:schemeClr val="tx1"/>
                </a:solidFill>
              </a:rPr>
              <a:t>MAE, RMSE, MAPE</a:t>
            </a:r>
            <a:endParaRPr lang="en-US" sz="1100" dirty="0"/>
          </a:p>
        </p:txBody>
      </p:sp>
      <p:sp>
        <p:nvSpPr>
          <p:cNvPr id="42" name="line-85"/>
          <p:cNvSpPr/>
          <p:nvPr/>
        </p:nvSpPr>
        <p:spPr>
          <a:xfrm>
            <a:off x="7132320" y="2926080"/>
            <a:ext cx="274320" cy="310896"/>
          </a:xfrm>
          <a:prstGeom prst="line">
            <a:avLst/>
          </a:prstGeom>
          <a:noFill/>
          <a:ln w="12700">
            <a:solidFill>
              <a:schemeClr val="tx2"/>
            </a:solidFill>
            <a:prstDash val="solid"/>
          </a:ln>
        </p:spPr>
      </p:sp>
      <p:sp>
        <p:nvSpPr>
          <p:cNvPr id="43" name="node-86"/>
          <p:cNvSpPr txBox="1"/>
          <p:nvPr/>
        </p:nvSpPr>
        <p:spPr>
          <a:xfrm>
            <a:off x="7406640" y="3108960"/>
            <a:ext cx="1371600" cy="256032"/>
          </a:xfrm>
          <a:prstGeom prst="roundRect">
            <a:avLst>
              <a:gd name="adj" fmla="val 42857"/>
            </a:avLst>
          </a:prstGeom>
          <a:solidFill>
            <a:schemeClr val="tx2">
              <a:alpha val="15000"/>
            </a:schemeClr>
          </a:solidFill>
          <a:ln/>
        </p:spPr>
        <p:txBody>
          <a:bodyPr wrap="square" lIns="254" tIns="254" rIns="254" bIns="254" rtlCol="0" anchor="ctr"/>
          <a:lstStyle/>
          <a:p>
            <a:pPr algn="ctr" indent="0" marL="0">
              <a:buNone/>
            </a:pPr>
            <a:r>
              <a:rPr lang="en-US" sz="1100" dirty="0">
                <a:solidFill>
                  <a:schemeClr val="tx1"/>
                </a:solidFill>
              </a:rPr>
              <a:t>Fair baselines</a:t>
            </a:r>
            <a:endParaRPr lang="en-US" sz="1100" dirty="0"/>
          </a:p>
        </p:txBody>
      </p:sp>
      <p:sp>
        <p:nvSpPr>
          <p:cNvPr id="44" name="node-87"/>
          <p:cNvSpPr txBox="1"/>
          <p:nvPr/>
        </p:nvSpPr>
        <p:spPr>
          <a:xfrm>
            <a:off x="5669280" y="2670048"/>
            <a:ext cx="1463040" cy="512064"/>
          </a:xfrm>
          <a:prstGeom prst="roundRect">
            <a:avLst>
              <a:gd name="adj" fmla="val 14286"/>
            </a:avLst>
          </a:prstGeom>
          <a:solidFill>
            <a:schemeClr val="tx2"/>
          </a:solidFill>
          <a:ln/>
        </p:spPr>
        <p:txBody>
          <a:bodyPr wrap="square" lIns="635" tIns="635" rIns="635" bIns="635" rtlCol="0" anchor="ctr"/>
          <a:lstStyle/>
          <a:p>
            <a:pPr algn="ctr" indent="0" marL="0">
              <a:buNone/>
            </a:pPr>
            <a:r>
              <a:rPr lang="en-US" sz="1200" b="1" dirty="0">
                <a:solidFill>
                  <a:schemeClr val="bg1"/>
                </a:solidFill>
              </a:rPr>
              <a:t>5 Count every byte</a:t>
            </a:r>
            <a:endParaRPr lang="en-US" sz="1200" dirty="0"/>
          </a:p>
        </p:txBody>
      </p:sp>
      <p:sp>
        <p:nvSpPr>
          <p:cNvPr id="45" name="node-88"/>
          <p:cNvSpPr txBox="1"/>
          <p:nvPr/>
        </p:nvSpPr>
        <p:spPr>
          <a:xfrm>
            <a:off x="3840480" y="1920240"/>
            <a:ext cx="1463040" cy="1005840"/>
          </a:xfrm>
          <a:prstGeom prst="ellipse">
            <a:avLst/>
          </a:prstGeom>
          <a:solidFill>
            <a:schemeClr val="accent1"/>
          </a:solidFill>
          <a:ln/>
        </p:spPr>
        <p:txBody>
          <a:bodyPr wrap="square" lIns="635" tIns="635" rIns="635" bIns="635" rtlCol="0" anchor="ctr"/>
          <a:lstStyle/>
          <a:p>
            <a:pPr algn="ctr" indent="0" marL="0">
              <a:buNone/>
            </a:pPr>
            <a:r>
              <a:rPr lang="en-US" sz="1400" b="1" dirty="0">
                <a:solidFill>
                  <a:schemeClr val="bg1"/>
                </a:solidFill>
              </a:rPr>
              <a:t>CityPulse-Audit</a:t>
            </a:r>
            <a:endParaRPr lang="en-US" sz="1400" dirty="0"/>
          </a:p>
        </p:txBody>
      </p:sp>
      <p:sp>
        <p:nvSpPr>
          <p:cNvPr id="46" name="text-89"/>
          <p:cNvSpPr txBox="1"/>
          <p:nvPr/>
        </p:nvSpPr>
        <p:spPr>
          <a:xfrm>
            <a:off x="457200" y="4069080"/>
            <a:ext cx="1097280" cy="502920"/>
          </a:xfrm>
          <a:prstGeom prst="rect">
            <a:avLst/>
          </a:prstGeom>
          <a:noFill/>
          <a:ln/>
        </p:spPr>
        <p:txBody>
          <a:bodyPr wrap="square" lIns="0" tIns="0" rIns="0" bIns="0" rtlCol="0" anchor="ctr"/>
          <a:lstStyle/>
          <a:p>
            <a:pPr algn="l" indent="0" marL="0">
              <a:buNone/>
            </a:pPr>
            <a:r>
              <a:rPr lang="en-US" sz="1200" b="1" dirty="0">
                <a:solidFill>
                  <a:schemeClr val="tx2"/>
                </a:solidFill>
              </a:rPr>
              <a:t>Inside each junction</a:t>
            </a:r>
            <a:endParaRPr lang="en-US" sz="1200" dirty="0"/>
          </a:p>
        </p:txBody>
      </p:sp>
      <p:sp>
        <p:nvSpPr>
          <p:cNvPr id="47" name="node-90"/>
          <p:cNvSpPr txBox="1"/>
          <p:nvPr/>
        </p:nvSpPr>
        <p:spPr>
          <a:xfrm>
            <a:off x="1600200" y="4069080"/>
            <a:ext cx="1554480" cy="502920"/>
          </a:xfrm>
          <a:prstGeom prst="roundRect">
            <a:avLst>
              <a:gd name="adj" fmla="val 14545"/>
            </a:avLst>
          </a:prstGeom>
          <a:solidFill>
            <a:schemeClr val="accent6">
              <a:alpha val="15000"/>
            </a:schemeClr>
          </a:solidFill>
          <a:ln w="15875">
            <a:solidFill>
              <a:schemeClr val="accent6"/>
            </a:solidFill>
          </a:ln>
        </p:spPr>
        <p:txBody>
          <a:bodyPr wrap="square" lIns="635" tIns="635" rIns="635" bIns="635" rtlCol="0" anchor="ctr"/>
          <a:lstStyle/>
          <a:p>
            <a:pPr algn="ctr" indent="0" marL="0">
              <a:buNone/>
            </a:pPr>
            <a:r>
              <a:rPr lang="en-US" sz="1200" dirty="0">
                <a:solidFill>
                  <a:schemeClr val="tx1"/>
                </a:solidFill>
              </a:rPr>
              <a:t>Simple baseline</a:t>
            </a:r>
            <a:endParaRPr lang="en-US" sz="1200" dirty="0"/>
          </a:p>
        </p:txBody>
      </p:sp>
      <p:sp>
        <p:nvSpPr>
          <p:cNvPr id="48" name="text-91"/>
          <p:cNvSpPr txBox="1"/>
          <p:nvPr/>
        </p:nvSpPr>
        <p:spPr>
          <a:xfrm>
            <a:off x="3154680" y="4069080"/>
            <a:ext cx="274320" cy="502920"/>
          </a:xfrm>
          <a:prstGeom prst="rect">
            <a:avLst/>
          </a:prstGeom>
          <a:noFill/>
          <a:ln/>
        </p:spPr>
        <p:txBody>
          <a:bodyPr wrap="square" lIns="0" tIns="0" rIns="0" bIns="0" rtlCol="0" anchor="ctr"/>
          <a:lstStyle/>
          <a:p>
            <a:pPr algn="ctr" indent="0" marL="0">
              <a:buNone/>
            </a:pPr>
            <a:r>
              <a:rPr lang="en-US" sz="2000" b="1" dirty="0">
                <a:solidFill>
                  <a:schemeClr val="tx2"/>
                </a:solidFill>
              </a:rPr>
              <a:t>+</a:t>
            </a:r>
            <a:endParaRPr lang="en-US" sz="2000" dirty="0"/>
          </a:p>
        </p:txBody>
      </p:sp>
      <p:sp>
        <p:nvSpPr>
          <p:cNvPr id="49" name="node-92"/>
          <p:cNvSpPr txBox="1"/>
          <p:nvPr/>
        </p:nvSpPr>
        <p:spPr>
          <a:xfrm>
            <a:off x="3429000" y="4069080"/>
            <a:ext cx="1554480" cy="502920"/>
          </a:xfrm>
          <a:prstGeom prst="roundRect">
            <a:avLst>
              <a:gd name="adj" fmla="val 14545"/>
            </a:avLst>
          </a:prstGeom>
          <a:solidFill>
            <a:schemeClr val="accent1"/>
          </a:solidFill>
          <a:ln w="15875">
            <a:solidFill>
              <a:schemeClr val="accent1"/>
            </a:solidFill>
          </a:ln>
        </p:spPr>
        <p:txBody>
          <a:bodyPr wrap="square" lIns="635" tIns="635" rIns="635" bIns="635" rtlCol="0" anchor="ctr"/>
          <a:lstStyle/>
          <a:p>
            <a:pPr algn="ctr" indent="0" marL="0">
              <a:buNone/>
            </a:pPr>
            <a:r>
              <a:rPr lang="en-US" sz="1200" b="1" dirty="0">
                <a:solidFill>
                  <a:schemeClr val="bg1"/>
                </a:solidFill>
              </a:rPr>
              <a:t>Tiny GRU (shared)</a:t>
            </a:r>
            <a:endParaRPr lang="en-US" sz="1200" dirty="0"/>
          </a:p>
        </p:txBody>
      </p:sp>
      <p:sp>
        <p:nvSpPr>
          <p:cNvPr id="50" name="text-93"/>
          <p:cNvSpPr txBox="1"/>
          <p:nvPr/>
        </p:nvSpPr>
        <p:spPr>
          <a:xfrm>
            <a:off x="4983480" y="4069080"/>
            <a:ext cx="274320" cy="502920"/>
          </a:xfrm>
          <a:prstGeom prst="rect">
            <a:avLst/>
          </a:prstGeom>
          <a:noFill/>
          <a:ln/>
        </p:spPr>
        <p:txBody>
          <a:bodyPr wrap="square" lIns="0" tIns="0" rIns="0" bIns="0" rtlCol="0" anchor="ctr"/>
          <a:lstStyle/>
          <a:p>
            <a:pPr algn="ctr" indent="0" marL="0">
              <a:buNone/>
            </a:pPr>
            <a:r>
              <a:rPr lang="en-US" sz="2000" b="1" dirty="0">
                <a:solidFill>
                  <a:schemeClr val="tx2"/>
                </a:solidFill>
              </a:rPr>
              <a:t>+</a:t>
            </a:r>
            <a:endParaRPr lang="en-US" sz="2000" dirty="0"/>
          </a:p>
        </p:txBody>
      </p:sp>
      <p:sp>
        <p:nvSpPr>
          <p:cNvPr id="51" name="node-94"/>
          <p:cNvSpPr txBox="1"/>
          <p:nvPr/>
        </p:nvSpPr>
        <p:spPr>
          <a:xfrm>
            <a:off x="5257800" y="4069080"/>
            <a:ext cx="1554480" cy="502920"/>
          </a:xfrm>
          <a:prstGeom prst="roundRect">
            <a:avLst>
              <a:gd name="adj" fmla="val 14545"/>
            </a:avLst>
          </a:prstGeom>
          <a:solidFill>
            <a:schemeClr val="accent6">
              <a:alpha val="15000"/>
            </a:schemeClr>
          </a:solidFill>
          <a:ln w="15875">
            <a:solidFill>
              <a:schemeClr val="accent6"/>
            </a:solidFill>
          </a:ln>
        </p:spPr>
        <p:txBody>
          <a:bodyPr wrap="square" lIns="635" tIns="635" rIns="635" bIns="635" rtlCol="0" anchor="ctr"/>
          <a:lstStyle/>
          <a:p>
            <a:pPr algn="ctr" indent="0" marL="0">
              <a:buNone/>
            </a:pPr>
            <a:r>
              <a:rPr lang="en-US" sz="1200" dirty="0">
                <a:solidFill>
                  <a:schemeClr val="tx1"/>
                </a:solidFill>
              </a:rPr>
              <a:t>Private tweak</a:t>
            </a:r>
            <a:endParaRPr lang="en-US" sz="1200" dirty="0"/>
          </a:p>
        </p:txBody>
      </p:sp>
      <p:sp>
        <p:nvSpPr>
          <p:cNvPr id="52" name="text-95"/>
          <p:cNvSpPr txBox="1"/>
          <p:nvPr/>
        </p:nvSpPr>
        <p:spPr>
          <a:xfrm>
            <a:off x="6812280" y="4069080"/>
            <a:ext cx="274320" cy="502920"/>
          </a:xfrm>
          <a:prstGeom prst="rect">
            <a:avLst/>
          </a:prstGeom>
          <a:noFill/>
          <a:ln/>
        </p:spPr>
        <p:txBody>
          <a:bodyPr wrap="square" lIns="0" tIns="0" rIns="0" bIns="0" rtlCol="0" anchor="ctr"/>
          <a:lstStyle/>
          <a:p>
            <a:pPr algn="ctr" indent="0" marL="0">
              <a:buNone/>
            </a:pPr>
            <a:r>
              <a:rPr lang="en-US" sz="2000" b="1" dirty="0">
                <a:solidFill>
                  <a:schemeClr val="tx2"/>
                </a:solidFill>
              </a:rPr>
              <a:t>=</a:t>
            </a:r>
            <a:endParaRPr lang="en-US" sz="2000" dirty="0"/>
          </a:p>
        </p:txBody>
      </p:sp>
      <p:sp>
        <p:nvSpPr>
          <p:cNvPr id="53" name="node-96"/>
          <p:cNvSpPr txBox="1"/>
          <p:nvPr/>
        </p:nvSpPr>
        <p:spPr>
          <a:xfrm>
            <a:off x="7086600" y="4069080"/>
            <a:ext cx="1554480" cy="502920"/>
          </a:xfrm>
          <a:prstGeom prst="roundRect">
            <a:avLst>
              <a:gd name="adj" fmla="val 14545"/>
            </a:avLst>
          </a:prstGeom>
          <a:solidFill>
            <a:schemeClr val="accent3">
              <a:alpha val="15000"/>
            </a:schemeClr>
          </a:solidFill>
          <a:ln w="15875">
            <a:solidFill>
              <a:schemeClr val="accent3"/>
            </a:solidFill>
          </a:ln>
        </p:spPr>
        <p:txBody>
          <a:bodyPr wrap="square" lIns="635" tIns="635" rIns="635" bIns="635" rtlCol="0" anchor="ctr"/>
          <a:lstStyle/>
          <a:p>
            <a:pPr algn="ctr" indent="0" marL="0">
              <a:buNone/>
            </a:pPr>
            <a:r>
              <a:rPr lang="en-US" sz="1200" b="1" dirty="0">
                <a:solidFill>
                  <a:schemeClr val="tx1"/>
                </a:solidFill>
              </a:rPr>
              <a:t>Forecast: 15/30/60 min</a:t>
            </a:r>
            <a:endParaRPr lang="en-US" sz="1200" dirty="0"/>
          </a:p>
        </p:txBody>
      </p:sp>
      <p:sp>
        <p:nvSpPr>
          <p:cNvPr id="25" name="Slide Number Placeholder 0"/>
          <p:cNvSpPr>
            <a:spLocks noGrp="1"/>
          </p:cNvSpPr>
          <p:nvPr>
            <p:ph type="sldNum" sz="quarter" idx="4294967295"/>
          </p:nvPr>
        </p:nvSpPr>
        <p:spPr>
          <a:xfrm>
            <a:off x="7845552" y="4828032"/>
            <a:ext cx="658368"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header-label"/>
          <p:cNvSpPr txBox="1"/>
          <p:nvPr/>
        </p:nvSpPr>
        <p:spPr>
          <a:xfrm>
            <a:off x="2286000" y="91440"/>
            <a:ext cx="4572000" cy="228600"/>
          </a:xfrm>
          <a:prstGeom prst="rect">
            <a:avLst/>
          </a:prstGeom>
          <a:noFill/>
          <a:ln/>
        </p:spPr>
        <p:txBody>
          <a:bodyPr wrap="square" lIns="0" tIns="0" rIns="0" bIns="0" rtlCol="0" anchor="ctr"/>
          <a:lstStyle/>
          <a:p>
            <a:pPr algn="ctr" indent="0" marL="0">
              <a:buNone/>
            </a:pPr>
            <a:r>
              <a:rPr lang="en-US" sz="1000" b="1" dirty="0">
                <a:solidFill>
                  <a:schemeClr val="accent1"/>
                </a:solidFill>
              </a:rPr>
              <a:t>AIORI 3</a:t>
            </a:r>
            <a:pPr algn="ctr" indent="0" marL="0">
              <a:buNone/>
            </a:pPr>
            <a:r>
              <a:rPr lang="en-US" sz="1000" dirty="0">
                <a:solidFill>
                  <a:schemeClr val="accent1"/>
                </a:solidFill>
              </a:rPr>
              <a:t>     Solution Optimization</a:t>
            </a:r>
            <a:endParaRPr lang="en-US" sz="1000" dirty="0"/>
          </a:p>
        </p:txBody>
      </p:sp>
      <p:sp>
        <p:nvSpPr>
          <p:cNvPr id="3" name="Text 2"/>
          <p:cNvSpPr/>
          <p:nvPr>
            <p:ph idx="102" type="title" hasCustomPrompt="1"/>
          </p:nvPr>
        </p:nvSpPr>
        <p:spPr>
          <a:xfrm>
            <a:off x="457200" y="347472"/>
            <a:ext cx="8229600" cy="566928"/>
          </a:xfrm>
          <a:prstGeom prst="rect">
            <a:avLst/>
          </a:prstGeom>
          <a:noFill/>
          <a:ln/>
        </p:spPr>
        <p:txBody>
          <a:bodyPr wrap="square" lIns="0" tIns="0" rIns="0" bIns="0" rtlCol="0" anchor="ctr"/>
          <a:lstStyle/>
          <a:p>
            <a:pPr algn="l" indent="0" marL="0">
              <a:buNone/>
            </a:pPr>
            <a:r>
              <a:rPr lang="en-US" sz="3200" b="1" dirty="0">
                <a:solidFill>
                  <a:schemeClr val="accent1"/>
                </a:solidFill>
              </a:rPr>
              <a:t>Optimization Proposed</a:t>
            </a:r>
            <a:endParaRPr lang="en-US" sz="3200" dirty="0"/>
          </a:p>
        </p:txBody>
      </p:sp>
      <p:graphicFrame>
        <p:nvGraphicFramePr>
          <p:cNvPr id="7" name="before-after-table"/>
          <p:cNvGraphicFramePr>
            <a:graphicFrameLocks noGrp="1"/>
          </p:cNvGraphicFramePr>
          <p:nvPr>
            <p:extLst>
              <p:ext uri="{D42A27DB-BD31-4B8C-83A1-F6EECF244321}">
                <p14:modId xmlns:p14="http://schemas.microsoft.com/office/powerpoint/2010/main" val="1579011935"/>
              </p:ext>
            </p:extLst>
          </p:nvPr>
        </p:nvGraphicFramePr>
        <p:xfrm>
          <a:off x="457200" y="1051560"/>
          <a:ext cx="4937760" cy="914400"/>
        </p:xfrm>
        <a:graphic>
          <a:graphicData uri="http://schemas.openxmlformats.org/drawingml/2006/table">
            <a:tbl>
              <a:tblPr/>
              <a:tblGrid>
                <a:gridCol w="1325880"/>
                <a:gridCol w="1554480"/>
                <a:gridCol w="2057400"/>
              </a:tblGrid>
              <a:tr h="347472">
                <a:tc>
                  <a:txBody>
                    <a:bodyPr/>
                    <a:lstStyle/>
                    <a:p>
                      <a:pPr indent="0" marL="0">
                        <a:buNone/>
                      </a:pPr>
                      <a:r>
                        <a:rPr lang="en-US" sz="1300" b="1" dirty="0">
                          <a:solidFill>
                            <a:srgbClr val="FFFFFF"/>
                          </a:solidFill>
                        </a:rPr>
                        <a:t>What</a:t>
                      </a:r>
                      <a:endParaRPr lang="en-US" sz="13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solidFill>
                      <a:srgbClr val="0B1366"/>
                    </a:solidFill>
                  </a:tcPr>
                </a:tc>
                <a:tc>
                  <a:txBody>
                    <a:bodyPr/>
                    <a:lstStyle/>
                    <a:p>
                      <a:pPr indent="0" marL="0">
                        <a:buNone/>
                      </a:pPr>
                      <a:r>
                        <a:rPr lang="en-US" sz="1300" b="1" dirty="0">
                          <a:solidFill>
                            <a:srgbClr val="FFFFFF"/>
                          </a:solidFill>
                        </a:rPr>
                        <a:t>Before</a:t>
                      </a:r>
                      <a:endParaRPr lang="en-US" sz="13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solidFill>
                      <a:srgbClr val="6B7194"/>
                    </a:solidFill>
                  </a:tcPr>
                </a:tc>
                <a:tc>
                  <a:txBody>
                    <a:bodyPr/>
                    <a:lstStyle/>
                    <a:p>
                      <a:pPr indent="0" marL="0">
                        <a:buNone/>
                      </a:pPr>
                      <a:r>
                        <a:rPr lang="en-US" sz="1300" b="1" dirty="0">
                          <a:solidFill>
                            <a:srgbClr val="FFFFFF"/>
                          </a:solidFill>
                        </a:rPr>
                        <a:t>After (ours)</a:t>
                      </a:r>
                      <a:endParaRPr lang="en-US" sz="13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solidFill>
                      <a:srgbClr val="1020C8"/>
                    </a:solidFill>
                  </a:tcPr>
                </a:tc>
              </a:tr>
              <a:tr h="420624">
                <a:tc>
                  <a:txBody>
                    <a:bodyPr/>
                    <a:lstStyle/>
                    <a:p>
                      <a:pPr indent="0" marL="0">
                        <a:buNone/>
                      </a:pPr>
                      <a:r>
                        <a:rPr lang="en-US" sz="1200" b="1" dirty="0">
                          <a:solidFill>
                            <a:srgbClr val="1A1F3A"/>
                          </a:solidFill>
                        </a:rPr>
                        <a:t>When to send</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dirty="0">
                          <a:solidFill>
                            <a:srgbClr val="1A1F3A"/>
                          </a:solidFill>
                        </a:rPr>
                        <a:t>Every round</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b="1" dirty="0">
                          <a:solidFill>
                            <a:srgbClr val="1020C8"/>
                          </a:solidFill>
                        </a:rPr>
                        <a:t>Only when surprised or overdue</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solidFill>
                      <a:srgbClr val="EEF1FF"/>
                    </a:solidFill>
                  </a:tcPr>
                </a:tc>
              </a:tr>
              <a:tr h="420624">
                <a:tc>
                  <a:txBody>
                    <a:bodyPr/>
                    <a:lstStyle/>
                    <a:p>
                      <a:pPr indent="0" marL="0">
                        <a:buNone/>
                      </a:pPr>
                      <a:r>
                        <a:rPr lang="en-US" sz="1200" b="1" dirty="0">
                          <a:solidFill>
                            <a:srgbClr val="1A1F3A"/>
                          </a:solidFill>
                        </a:rPr>
                        <a:t>What to send</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dirty="0">
                          <a:solidFill>
                            <a:srgbClr val="1A1F3A"/>
                          </a:solidFill>
                        </a:rPr>
                        <a:t>Full model (80 KB)</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b="1" dirty="0">
                          <a:solidFill>
                            <a:srgbClr val="1020C8"/>
                          </a:solidFill>
                        </a:rPr>
                        <a:t>Small change (0.4–20 KB)</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solidFill>
                      <a:srgbClr val="EEF1FF"/>
                    </a:solidFill>
                  </a:tcPr>
                </a:tc>
              </a:tr>
              <a:tr h="420624">
                <a:tc>
                  <a:txBody>
                    <a:bodyPr/>
                    <a:lstStyle/>
                    <a:p>
                      <a:pPr indent="0" marL="0">
                        <a:buNone/>
                      </a:pPr>
                      <a:r>
                        <a:rPr lang="en-US" sz="1200" b="1" dirty="0">
                          <a:solidFill>
                            <a:srgbClr val="1A1F3A"/>
                          </a:solidFill>
                        </a:rPr>
                        <a:t>Worth it?</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dirty="0">
                          <a:solidFill>
                            <a:srgbClr val="1A1F3A"/>
                          </a:solidFill>
                        </a:rPr>
                        <a:t>Not checked</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b="1" dirty="0">
                          <a:solidFill>
                            <a:srgbClr val="1020C8"/>
                          </a:solidFill>
                        </a:rPr>
                        <a:t>Tested on local data first</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solidFill>
                      <a:srgbClr val="EEF1FF"/>
                    </a:solidFill>
                  </a:tcPr>
                </a:tc>
              </a:tr>
              <a:tr h="420624">
                <a:tc>
                  <a:txBody>
                    <a:bodyPr/>
                    <a:lstStyle/>
                    <a:p>
                      <a:pPr indent="0" marL="0">
                        <a:buNone/>
                      </a:pPr>
                      <a:r>
                        <a:rPr lang="en-US" sz="1200" b="1" dirty="0">
                          <a:solidFill>
                            <a:srgbClr val="1A1F3A"/>
                          </a:solidFill>
                        </a:rPr>
                        <a:t>Who sends</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dirty="0">
                          <a:solidFill>
                            <a:srgbClr val="1A1F3A"/>
                          </a:solidFill>
                        </a:rPr>
                        <a:t>Everyone</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b="1" dirty="0">
                          <a:solidFill>
                            <a:srgbClr val="1020C8"/>
                          </a:solidFill>
                        </a:rPr>
                        <a:t>Best gain per byte, in budget</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solidFill>
                      <a:srgbClr val="EEF1FF"/>
                    </a:solidFill>
                  </a:tcPr>
                </a:tc>
              </a:tr>
              <a:tr h="420624">
                <a:tc>
                  <a:txBody>
                    <a:bodyPr/>
                    <a:lstStyle/>
                    <a:p>
                      <a:pPr indent="0" marL="0">
                        <a:buNone/>
                      </a:pPr>
                      <a:r>
                        <a:rPr lang="en-US" sz="1200" b="1" dirty="0">
                          <a:solidFill>
                            <a:srgbClr val="1A1F3A"/>
                          </a:solidFill>
                        </a:rPr>
                        <a:t>Quiet junctions</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dirty="0">
                          <a:solidFill>
                            <a:srgbClr val="1A1F3A"/>
                          </a:solidFill>
                        </a:rPr>
                        <a:t>Same cost as busy</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b="1" dirty="0">
                          <a:solidFill>
                            <a:srgbClr val="1020C8"/>
                          </a:solidFill>
                        </a:rPr>
                        <a:t>Safe minimum check-in</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solidFill>
                      <a:srgbClr val="EEF1FF"/>
                    </a:solidFill>
                  </a:tcPr>
                </a:tc>
              </a:tr>
              <a:tr h="420624">
                <a:tc>
                  <a:txBody>
                    <a:bodyPr/>
                    <a:lstStyle/>
                    <a:p>
                      <a:pPr indent="0" marL="0">
                        <a:buNone/>
                      </a:pPr>
                      <a:r>
                        <a:rPr lang="en-US" sz="1200" b="1" dirty="0">
                          <a:solidFill>
                            <a:srgbClr val="1A1F3A"/>
                          </a:solidFill>
                        </a:rPr>
                        <a:t>Counting bytes</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dirty="0">
                          <a:solidFill>
                            <a:srgbClr val="1A1F3A"/>
                          </a:solidFill>
                        </a:rPr>
                        <a:t>Uploads only</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tcPr>
                </a:tc>
                <a:tc>
                  <a:txBody>
                    <a:bodyPr/>
                    <a:lstStyle/>
                    <a:p>
                      <a:pPr indent="0" marL="0">
                        <a:buNone/>
                      </a:pPr>
                      <a:r>
                        <a:rPr lang="en-US" sz="1200" b="1" dirty="0">
                          <a:solidFill>
                            <a:srgbClr val="1020C8"/>
                          </a:solidFill>
                        </a:rPr>
                        <a:t>Every message logged</a:t>
                      </a:r>
                      <a:endParaRPr lang="en-US" sz="1200" dirty="0"/>
                    </a:p>
                  </a:txBody>
                  <a:tcPr marL="73152" marR="73152" marT="27432" marB="27432" anchor="ctr">
                    <a:lnL w="9525" cap="flat" cmpd="sng" algn="ctr">
                      <a:solidFill>
                        <a:srgbClr val="D5D9F0"/>
                      </a:solidFill>
                      <a:prstDash val="solid"/>
                      <a:round/>
                      <a:headEnd type="none" w="med" len="med"/>
                      <a:tailEnd type="none" w="med" len="med"/>
                    </a:lnL>
                    <a:lnR w="9525" cap="flat" cmpd="sng" algn="ctr">
                      <a:solidFill>
                        <a:srgbClr val="D5D9F0"/>
                      </a:solidFill>
                      <a:prstDash val="solid"/>
                      <a:round/>
                      <a:headEnd type="none" w="med" len="med"/>
                      <a:tailEnd type="none" w="med" len="med"/>
                    </a:lnR>
                    <a:lnT w="9525" cap="flat" cmpd="sng" algn="ctr">
                      <a:solidFill>
                        <a:srgbClr val="D5D9F0"/>
                      </a:solidFill>
                      <a:prstDash val="solid"/>
                      <a:round/>
                      <a:headEnd type="none" w="med" len="med"/>
                      <a:tailEnd type="none" w="med" len="med"/>
                    </a:lnT>
                    <a:lnB w="9525" cap="flat" cmpd="sng" algn="ctr">
                      <a:solidFill>
                        <a:srgbClr val="D5D9F0"/>
                      </a:solidFill>
                      <a:prstDash val="solid"/>
                      <a:round/>
                      <a:headEnd type="none" w="med" len="med"/>
                      <a:tailEnd type="none" w="med" len="med"/>
                    </a:lnB>
                    <a:solidFill>
                      <a:srgbClr val="EEF1FF"/>
                    </a:solidFill>
                  </a:tcPr>
                </a:tc>
              </a:tr>
            </a:tbl>
          </a:graphicData>
        </a:graphic>
      </p:graphicFrame>
      <p:graphicFrame>
        <p:nvGraphicFramePr>
          <p:cNvPr id="6" name="Chart 0" descr=""/>
          <p:cNvGraphicFramePr/>
          <p:nvPr/>
        </p:nvGraphicFramePr>
        <p:xfrm>
          <a:off x="5577840" y="1005840"/>
          <a:ext cx="3108960" cy="2057400"/>
        </p:xfrm>
        <a:graphic xmlns:a="http://schemas.openxmlformats.org/drawingml/2006/main">
          <a:graphicData uri="http://schemas.openxmlformats.org/drawingml/2006/chart">
            <c:chart xmlns:c="http://schemas.openxmlformats.org/drawingml/2006/chart" r:id="rId1"/>
          </a:graphicData>
        </a:graphic>
      </p:graphicFrame>
      <p:sp>
        <p:nvSpPr>
          <p:cNvPr id="7" name="node-97"/>
          <p:cNvSpPr txBox="1"/>
          <p:nvPr/>
        </p:nvSpPr>
        <p:spPr>
          <a:xfrm>
            <a:off x="5577840" y="3108960"/>
            <a:ext cx="3108960" cy="868680"/>
          </a:xfrm>
          <a:prstGeom prst="roundRect">
            <a:avLst>
              <a:gd name="adj" fmla="val 8421"/>
            </a:avLst>
          </a:prstGeom>
          <a:solidFill>
            <a:schemeClr val="bg2"/>
          </a:solidFill>
          <a:ln/>
        </p:spPr>
        <p:txBody>
          <a:bodyPr wrap="square" lIns="635" tIns="635" rIns="635" bIns="635" rtlCol="0" anchor="ctr"/>
          <a:lstStyle/>
          <a:p>
            <a:pPr algn="ctr" indent="0" marL="0">
              <a:buNone/>
            </a:pPr>
            <a:endParaRPr lang="en-US" sz="1200" dirty="0"/>
          </a:p>
        </p:txBody>
      </p:sp>
      <p:sp>
        <p:nvSpPr>
          <p:cNvPr id="8" name="text-98"/>
          <p:cNvSpPr txBox="1"/>
          <p:nvPr/>
        </p:nvSpPr>
        <p:spPr>
          <a:xfrm>
            <a:off x="5669280" y="3154680"/>
            <a:ext cx="1280160" cy="365760"/>
          </a:xfrm>
          <a:prstGeom prst="rect">
            <a:avLst/>
          </a:prstGeom>
          <a:noFill/>
          <a:ln/>
        </p:spPr>
        <p:txBody>
          <a:bodyPr wrap="square" lIns="0" tIns="0" rIns="0" bIns="0" rtlCol="0" anchor="ctr"/>
          <a:lstStyle/>
          <a:p>
            <a:pPr algn="ctr" indent="0" marL="0">
              <a:buNone/>
            </a:pPr>
            <a:r>
              <a:rPr lang="en-US" sz="2000" b="1" dirty="0">
                <a:solidFill>
                  <a:schemeClr val="accent6"/>
                </a:solidFill>
              </a:rPr>
              <a:t>13.8 GB</a:t>
            </a:r>
            <a:endParaRPr lang="en-US" sz="2000" dirty="0"/>
          </a:p>
        </p:txBody>
      </p:sp>
      <p:sp>
        <p:nvSpPr>
          <p:cNvPr id="9" name="text-99"/>
          <p:cNvSpPr txBox="1"/>
          <p:nvPr/>
        </p:nvSpPr>
        <p:spPr>
          <a:xfrm>
            <a:off x="5669280" y="3547872"/>
            <a:ext cx="1280160" cy="365760"/>
          </a:xfrm>
          <a:prstGeom prst="rect">
            <a:avLst/>
          </a:prstGeom>
          <a:noFill/>
          <a:ln/>
        </p:spPr>
        <p:txBody>
          <a:bodyPr wrap="square" lIns="0" tIns="0" rIns="0" bIns="0" rtlCol="0" anchor="t"/>
          <a:lstStyle/>
          <a:p>
            <a:pPr algn="ctr" indent="0" marL="0">
              <a:buNone/>
            </a:pPr>
            <a:r>
              <a:rPr lang="en-US" sz="1000" dirty="0">
                <a:solidFill>
                  <a:schemeClr val="tx1"/>
                </a:solidFill>
              </a:rPr>
              <a:t>per day, FedAvg 32-bit</a:t>
            </a:r>
            <a:endParaRPr lang="en-US" sz="1000" dirty="0"/>
          </a:p>
        </p:txBody>
      </p:sp>
      <p:sp>
        <p:nvSpPr>
          <p:cNvPr id="10" name="text-100"/>
          <p:cNvSpPr txBox="1"/>
          <p:nvPr/>
        </p:nvSpPr>
        <p:spPr>
          <a:xfrm>
            <a:off x="6949440" y="3154680"/>
            <a:ext cx="365760" cy="365760"/>
          </a:xfrm>
          <a:prstGeom prst="rect">
            <a:avLst/>
          </a:prstGeom>
          <a:noFill/>
          <a:ln/>
        </p:spPr>
        <p:txBody>
          <a:bodyPr wrap="square" lIns="0" tIns="0" rIns="0" bIns="0" rtlCol="0" anchor="ctr"/>
          <a:lstStyle/>
          <a:p>
            <a:pPr algn="ctr" indent="0" marL="0">
              <a:buNone/>
            </a:pPr>
            <a:r>
              <a:rPr lang="en-US" sz="2000" b="1" dirty="0">
                <a:solidFill>
                  <a:schemeClr val="tx2"/>
                </a:solidFill>
              </a:rPr>
              <a:t>→</a:t>
            </a:r>
            <a:endParaRPr lang="en-US" sz="2000" dirty="0"/>
          </a:p>
        </p:txBody>
      </p:sp>
      <p:sp>
        <p:nvSpPr>
          <p:cNvPr id="11" name="text-101"/>
          <p:cNvSpPr txBox="1"/>
          <p:nvPr/>
        </p:nvSpPr>
        <p:spPr>
          <a:xfrm>
            <a:off x="7315200" y="3154680"/>
            <a:ext cx="1280160" cy="365760"/>
          </a:xfrm>
          <a:prstGeom prst="rect">
            <a:avLst/>
          </a:prstGeom>
          <a:noFill/>
          <a:ln/>
        </p:spPr>
        <p:txBody>
          <a:bodyPr wrap="square" lIns="0" tIns="0" rIns="0" bIns="0" rtlCol="0" anchor="ctr"/>
          <a:lstStyle/>
          <a:p>
            <a:pPr algn="ctr" indent="0" marL="0">
              <a:buNone/>
            </a:pPr>
            <a:r>
              <a:rPr lang="en-US" sz="2000" b="1" dirty="0">
                <a:solidFill>
                  <a:schemeClr val="accent1"/>
                </a:solidFill>
              </a:rPr>
              <a:t>≤ 0.7 GB</a:t>
            </a:r>
            <a:endParaRPr lang="en-US" sz="2000" dirty="0"/>
          </a:p>
        </p:txBody>
      </p:sp>
      <p:sp>
        <p:nvSpPr>
          <p:cNvPr id="12" name="text-102"/>
          <p:cNvSpPr txBox="1"/>
          <p:nvPr/>
        </p:nvSpPr>
        <p:spPr>
          <a:xfrm>
            <a:off x="7315200" y="3547872"/>
            <a:ext cx="1280160" cy="365760"/>
          </a:xfrm>
          <a:prstGeom prst="rect">
            <a:avLst/>
          </a:prstGeom>
          <a:noFill/>
          <a:ln/>
        </p:spPr>
        <p:txBody>
          <a:bodyPr wrap="square" lIns="0" tIns="0" rIns="0" bIns="0" rtlCol="0" anchor="t"/>
          <a:lstStyle/>
          <a:p>
            <a:pPr algn="ctr" indent="0" marL="0">
              <a:buNone/>
            </a:pPr>
            <a:r>
              <a:rPr lang="en-US" sz="1000" dirty="0">
                <a:solidFill>
                  <a:schemeClr val="tx1"/>
                </a:solidFill>
              </a:rPr>
              <a:t>our target (20× less)</a:t>
            </a:r>
            <a:endParaRPr lang="en-US" sz="1000" dirty="0"/>
          </a:p>
        </p:txBody>
      </p:sp>
      <p:sp>
        <p:nvSpPr>
          <p:cNvPr id="13" name="text-103"/>
          <p:cNvSpPr txBox="1"/>
          <p:nvPr/>
        </p:nvSpPr>
        <p:spPr>
          <a:xfrm>
            <a:off x="457200" y="4069080"/>
            <a:ext cx="8229600" cy="237744"/>
          </a:xfrm>
          <a:prstGeom prst="rect">
            <a:avLst/>
          </a:prstGeom>
          <a:noFill/>
          <a:ln/>
        </p:spPr>
        <p:txBody>
          <a:bodyPr wrap="square" lIns="0" tIns="0" rIns="0" bIns="0" rtlCol="0" anchor="t"/>
          <a:lstStyle/>
          <a:p>
            <a:pPr algn="l" indent="0" marL="0">
              <a:buNone/>
            </a:pPr>
            <a:r>
              <a:rPr lang="en-US" sz="1300" b="1" dirty="0">
                <a:solidFill>
                  <a:schemeClr val="tx2"/>
                </a:solidFill>
              </a:rPr>
              <a:t>Fair test (MAE, RMSE, MAPE + bytes): 6 runs, same model, data and seeds</a:t>
            </a:r>
            <a:endParaRPr lang="en-US" sz="1300" dirty="0"/>
          </a:p>
        </p:txBody>
      </p:sp>
      <p:sp>
        <p:nvSpPr>
          <p:cNvPr id="14" name="node-104"/>
          <p:cNvSpPr txBox="1"/>
          <p:nvPr/>
        </p:nvSpPr>
        <p:spPr>
          <a:xfrm>
            <a:off x="457200" y="4343400"/>
            <a:ext cx="1298448" cy="365760"/>
          </a:xfrm>
          <a:prstGeom prst="roundRect">
            <a:avLst>
              <a:gd name="adj" fmla="val 20000"/>
            </a:avLst>
          </a:prstGeom>
          <a:solidFill>
            <a:schemeClr val="bg2"/>
          </a:solidFill>
          <a:ln w="12700">
            <a:solidFill>
              <a:schemeClr val="accent6"/>
            </a:solidFill>
          </a:ln>
        </p:spPr>
        <p:txBody>
          <a:bodyPr wrap="square" lIns="254" tIns="254" rIns="254" bIns="254" rtlCol="0" anchor="ctr"/>
          <a:lstStyle/>
          <a:p>
            <a:pPr algn="ctr" indent="0" marL="0">
              <a:buNone/>
            </a:pPr>
            <a:r>
              <a:rPr lang="en-US" sz="1100" dirty="0">
                <a:solidFill>
                  <a:schemeClr val="tx1"/>
                </a:solidFill>
              </a:rPr>
              <a:t>Local only</a:t>
            </a:r>
            <a:endParaRPr lang="en-US" sz="1100" dirty="0"/>
          </a:p>
        </p:txBody>
      </p:sp>
      <p:sp>
        <p:nvSpPr>
          <p:cNvPr id="15" name="node-105"/>
          <p:cNvSpPr txBox="1"/>
          <p:nvPr/>
        </p:nvSpPr>
        <p:spPr>
          <a:xfrm>
            <a:off x="1843430" y="4343400"/>
            <a:ext cx="1298448" cy="365760"/>
          </a:xfrm>
          <a:prstGeom prst="roundRect">
            <a:avLst>
              <a:gd name="adj" fmla="val 20000"/>
            </a:avLst>
          </a:prstGeom>
          <a:solidFill>
            <a:schemeClr val="bg2"/>
          </a:solidFill>
          <a:ln w="12700">
            <a:solidFill>
              <a:schemeClr val="accent6"/>
            </a:solidFill>
          </a:ln>
        </p:spPr>
        <p:txBody>
          <a:bodyPr wrap="square" lIns="254" tIns="254" rIns="254" bIns="254" rtlCol="0" anchor="ctr"/>
          <a:lstStyle/>
          <a:p>
            <a:pPr algn="ctr" indent="0" marL="0">
              <a:buNone/>
            </a:pPr>
            <a:r>
              <a:rPr lang="en-US" sz="1100" dirty="0">
                <a:solidFill>
                  <a:schemeClr val="tx1"/>
                </a:solidFill>
              </a:rPr>
              <a:t>FedAvg 32-bit</a:t>
            </a:r>
            <a:endParaRPr lang="en-US" sz="1100" dirty="0"/>
          </a:p>
        </p:txBody>
      </p:sp>
      <p:sp>
        <p:nvSpPr>
          <p:cNvPr id="16" name="node-106"/>
          <p:cNvSpPr txBox="1"/>
          <p:nvPr/>
        </p:nvSpPr>
        <p:spPr>
          <a:xfrm>
            <a:off x="3229661" y="4343400"/>
            <a:ext cx="1298448" cy="365760"/>
          </a:xfrm>
          <a:prstGeom prst="roundRect">
            <a:avLst>
              <a:gd name="adj" fmla="val 20000"/>
            </a:avLst>
          </a:prstGeom>
          <a:solidFill>
            <a:schemeClr val="bg2"/>
          </a:solidFill>
          <a:ln w="12700">
            <a:solidFill>
              <a:schemeClr val="accent6"/>
            </a:solidFill>
          </a:ln>
        </p:spPr>
        <p:txBody>
          <a:bodyPr wrap="square" lIns="254" tIns="254" rIns="254" bIns="254" rtlCol="0" anchor="ctr"/>
          <a:lstStyle/>
          <a:p>
            <a:pPr algn="ctr" indent="0" marL="0">
              <a:buNone/>
            </a:pPr>
            <a:r>
              <a:rPr lang="en-US" sz="1100" dirty="0">
                <a:solidFill>
                  <a:schemeClr val="tx1"/>
                </a:solidFill>
              </a:rPr>
              <a:t>FedAvg 8-bit</a:t>
            </a:r>
            <a:endParaRPr lang="en-US" sz="1100" dirty="0"/>
          </a:p>
        </p:txBody>
      </p:sp>
      <p:sp>
        <p:nvSpPr>
          <p:cNvPr id="17" name="node-107"/>
          <p:cNvSpPr txBox="1"/>
          <p:nvPr/>
        </p:nvSpPr>
        <p:spPr>
          <a:xfrm>
            <a:off x="4615891" y="4343400"/>
            <a:ext cx="1298448" cy="365760"/>
          </a:xfrm>
          <a:prstGeom prst="roundRect">
            <a:avLst>
              <a:gd name="adj" fmla="val 20000"/>
            </a:avLst>
          </a:prstGeom>
          <a:solidFill>
            <a:schemeClr val="bg2"/>
          </a:solidFill>
          <a:ln w="12700">
            <a:solidFill>
              <a:schemeClr val="accent6"/>
            </a:solidFill>
          </a:ln>
        </p:spPr>
        <p:txBody>
          <a:bodyPr wrap="square" lIns="254" tIns="254" rIns="254" bIns="254" rtlCol="0" anchor="ctr"/>
          <a:lstStyle/>
          <a:p>
            <a:pPr algn="ctr" indent="0" marL="0">
              <a:buNone/>
            </a:pPr>
            <a:r>
              <a:rPr lang="en-US" sz="1100" dirty="0">
                <a:solidFill>
                  <a:schemeClr val="tx1"/>
                </a:solidFill>
              </a:rPr>
              <a:t>Top-k + 8-bit</a:t>
            </a:r>
            <a:endParaRPr lang="en-US" sz="1100" dirty="0"/>
          </a:p>
        </p:txBody>
      </p:sp>
      <p:sp>
        <p:nvSpPr>
          <p:cNvPr id="18" name="node-108"/>
          <p:cNvSpPr txBox="1"/>
          <p:nvPr/>
        </p:nvSpPr>
        <p:spPr>
          <a:xfrm>
            <a:off x="6002122" y="4343400"/>
            <a:ext cx="1298448" cy="365760"/>
          </a:xfrm>
          <a:prstGeom prst="roundRect">
            <a:avLst>
              <a:gd name="adj" fmla="val 20000"/>
            </a:avLst>
          </a:prstGeom>
          <a:solidFill>
            <a:schemeClr val="bg2"/>
          </a:solidFill>
          <a:ln w="12700">
            <a:solidFill>
              <a:schemeClr val="accent6"/>
            </a:solidFill>
          </a:ln>
        </p:spPr>
        <p:txBody>
          <a:bodyPr wrap="square" lIns="254" tIns="254" rIns="254" bIns="254" rtlCol="0" anchor="ctr"/>
          <a:lstStyle/>
          <a:p>
            <a:pPr algn="ctr" indent="0" marL="0">
              <a:buNone/>
            </a:pPr>
            <a:r>
              <a:rPr lang="en-US" sz="1100" dirty="0">
                <a:solidFill>
                  <a:schemeClr val="tx1"/>
                </a:solidFill>
              </a:rPr>
              <a:t>Event-triggered</a:t>
            </a:r>
            <a:endParaRPr lang="en-US" sz="1100" dirty="0"/>
          </a:p>
        </p:txBody>
      </p:sp>
      <p:sp>
        <p:nvSpPr>
          <p:cNvPr id="19" name="node-109"/>
          <p:cNvSpPr txBox="1"/>
          <p:nvPr/>
        </p:nvSpPr>
        <p:spPr>
          <a:xfrm>
            <a:off x="7388352" y="4343400"/>
            <a:ext cx="1298448" cy="365760"/>
          </a:xfrm>
          <a:prstGeom prst="roundRect">
            <a:avLst>
              <a:gd name="adj" fmla="val 20000"/>
            </a:avLst>
          </a:prstGeom>
          <a:solidFill>
            <a:schemeClr val="accent1"/>
          </a:solidFill>
          <a:ln w="12700">
            <a:solidFill>
              <a:schemeClr val="accent1"/>
            </a:solidFill>
          </a:ln>
        </p:spPr>
        <p:txBody>
          <a:bodyPr wrap="square" lIns="254" tIns="254" rIns="254" bIns="254" rtlCol="0" anchor="ctr"/>
          <a:lstStyle/>
          <a:p>
            <a:pPr algn="ctr" indent="0" marL="0">
              <a:buNone/>
            </a:pPr>
            <a:r>
              <a:rPr lang="en-US" sz="1100" b="1" dirty="0">
                <a:solidFill>
                  <a:schemeClr val="bg1"/>
                </a:solidFill>
              </a:rPr>
              <a:t>CityPulse-Audit</a:t>
            </a:r>
            <a:endParaRPr lang="en-US" sz="1100" dirty="0"/>
          </a:p>
        </p:txBody>
      </p:sp>
      <p:sp>
        <p:nvSpPr>
          <p:cNvPr id="25" name="Slide Number Placeholder 0"/>
          <p:cNvSpPr>
            <a:spLocks noGrp="1"/>
          </p:cNvSpPr>
          <p:nvPr>
            <p:ph type="sldNum" sz="quarter" idx="4294967295"/>
          </p:nvPr>
        </p:nvSpPr>
        <p:spPr>
          <a:xfrm>
            <a:off x="7845552" y="4828032"/>
            <a:ext cx="658368"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header-label"/>
          <p:cNvSpPr txBox="1"/>
          <p:nvPr/>
        </p:nvSpPr>
        <p:spPr>
          <a:xfrm>
            <a:off x="2286000" y="91440"/>
            <a:ext cx="4572000" cy="228600"/>
          </a:xfrm>
          <a:prstGeom prst="rect">
            <a:avLst/>
          </a:prstGeom>
          <a:noFill/>
          <a:ln/>
        </p:spPr>
        <p:txBody>
          <a:bodyPr wrap="square" lIns="0" tIns="0" rIns="0" bIns="0" rtlCol="0" anchor="ctr"/>
          <a:lstStyle/>
          <a:p>
            <a:pPr algn="ctr" indent="0" marL="0">
              <a:buNone/>
            </a:pPr>
            <a:r>
              <a:rPr lang="en-US" sz="1000" b="1" dirty="0">
                <a:solidFill>
                  <a:schemeClr val="accent1"/>
                </a:solidFill>
              </a:rPr>
              <a:t>AIORI 3</a:t>
            </a:r>
            <a:pPr algn="ctr" indent="0" marL="0">
              <a:buNone/>
            </a:pPr>
            <a:r>
              <a:rPr lang="en-US" sz="1000" dirty="0">
                <a:solidFill>
                  <a:schemeClr val="accent1"/>
                </a:solidFill>
              </a:rPr>
              <a:t>     Architecture Design (UML Diagram)</a:t>
            </a:r>
            <a:endParaRPr lang="en-US" sz="1000" dirty="0"/>
          </a:p>
        </p:txBody>
      </p:sp>
      <p:sp>
        <p:nvSpPr>
          <p:cNvPr id="3" name="Text 2"/>
          <p:cNvSpPr/>
          <p:nvPr>
            <p:ph idx="102" type="title" hasCustomPrompt="1"/>
          </p:nvPr>
        </p:nvSpPr>
        <p:spPr>
          <a:xfrm>
            <a:off x="457200" y="347472"/>
            <a:ext cx="8229600" cy="566928"/>
          </a:xfrm>
          <a:prstGeom prst="rect">
            <a:avLst/>
          </a:prstGeom>
          <a:noFill/>
          <a:ln/>
        </p:spPr>
        <p:txBody>
          <a:bodyPr wrap="square" lIns="0" tIns="0" rIns="0" bIns="0" rtlCol="0" anchor="ctr"/>
          <a:lstStyle/>
          <a:p>
            <a:pPr algn="l" indent="0" marL="0">
              <a:buNone/>
            </a:pPr>
            <a:r>
              <a:rPr lang="en-US" sz="3200" b="1" dirty="0">
                <a:solidFill>
                  <a:schemeClr val="accent1"/>
                </a:solidFill>
              </a:rPr>
              <a:t>Solution Architecture &amp; Design</a:t>
            </a:r>
            <a:endParaRPr lang="en-US" sz="3200" dirty="0"/>
          </a:p>
        </p:txBody>
      </p:sp>
      <p:sp>
        <p:nvSpPr>
          <p:cNvPr id="5" name="node-110"/>
          <p:cNvSpPr txBox="1"/>
          <p:nvPr/>
        </p:nvSpPr>
        <p:spPr>
          <a:xfrm>
            <a:off x="365760" y="1005840"/>
            <a:ext cx="8412480" cy="2011680"/>
          </a:xfrm>
          <a:prstGeom prst="roundRect">
            <a:avLst>
              <a:gd name="adj" fmla="val 2273"/>
            </a:avLst>
          </a:prstGeom>
          <a:solidFill>
            <a:schemeClr val="bg2"/>
          </a:solidFill>
          <a:ln w="15875">
            <a:solidFill>
              <a:schemeClr val="accent1"/>
            </a:solidFill>
          </a:ln>
        </p:spPr>
        <p:txBody>
          <a:bodyPr wrap="square" lIns="635" tIns="635" rIns="635" bIns="635" rtlCol="0" anchor="ctr"/>
          <a:lstStyle/>
          <a:p>
            <a:pPr algn="ctr" indent="0" marL="0">
              <a:buNone/>
            </a:pPr>
            <a:endParaRPr lang="en-US" sz="1200" dirty="0"/>
          </a:p>
        </p:txBody>
      </p:sp>
      <p:sp>
        <p:nvSpPr>
          <p:cNvPr id="6" name="node-111"/>
          <p:cNvSpPr txBox="1"/>
          <p:nvPr/>
        </p:nvSpPr>
        <p:spPr>
          <a:xfrm>
            <a:off x="457200" y="1042416"/>
            <a:ext cx="3566160" cy="237744"/>
          </a:xfrm>
          <a:prstGeom prst="roundRect">
            <a:avLst>
              <a:gd name="adj" fmla="val 50000"/>
            </a:avLst>
          </a:prstGeom>
          <a:solidFill>
            <a:schemeClr val="accent1"/>
          </a:solidFill>
          <a:ln/>
        </p:spPr>
        <p:txBody>
          <a:bodyPr wrap="square" lIns="254" tIns="254" rIns="254" bIns="254" rtlCol="0" anchor="ctr"/>
          <a:lstStyle/>
          <a:p>
            <a:pPr algn="ctr" indent="0" marL="0">
              <a:buNone/>
            </a:pPr>
            <a:r>
              <a:rPr lang="en-US" sz="1000" b="1" dirty="0">
                <a:solidFill>
                  <a:schemeClr val="bg1"/>
                </a:solidFill>
              </a:rPr>
              <a:t>EDGE NODE (at the junction): raw data stays here</a:t>
            </a:r>
            <a:endParaRPr lang="en-US" sz="1000" dirty="0"/>
          </a:p>
        </p:txBody>
      </p:sp>
      <p:sp>
        <p:nvSpPr>
          <p:cNvPr id="7" name="node-112"/>
          <p:cNvSpPr txBox="1"/>
          <p:nvPr/>
        </p:nvSpPr>
        <p:spPr>
          <a:xfrm>
            <a:off x="457200" y="1508760"/>
            <a:ext cx="1005840" cy="731520"/>
          </a:xfrm>
          <a:prstGeom prst="roundRect">
            <a:avLst>
              <a:gd name="adj" fmla="val 10000"/>
            </a:avLst>
          </a:prstGeom>
          <a:solidFill>
            <a:schemeClr val="bg1"/>
          </a:solidFill>
          <a:ln w="12700">
            <a:solidFill>
              <a:schemeClr val="accent1"/>
            </a:solidFill>
          </a:ln>
        </p:spPr>
        <p:txBody>
          <a:bodyPr wrap="square" lIns="635" tIns="635" rIns="635" bIns="635" rtlCol="0" anchor="ctr"/>
          <a:lstStyle/>
          <a:p>
            <a:pPr algn="ctr" indent="0" marL="0">
              <a:buNone/>
            </a:pPr>
            <a:r>
              <a:rPr lang="en-US" sz="1100" dirty="0">
                <a:solidFill>
                  <a:schemeClr val="tx1"/>
                </a:solidFill>
              </a:rPr>
              <a:t>Traffic data arrives</a:t>
            </a:r>
            <a:endParaRPr lang="en-US" sz="1100" dirty="0"/>
          </a:p>
        </p:txBody>
      </p:sp>
      <p:sp>
        <p:nvSpPr>
          <p:cNvPr id="8" name="node-113"/>
          <p:cNvSpPr txBox="1"/>
          <p:nvPr/>
        </p:nvSpPr>
        <p:spPr>
          <a:xfrm>
            <a:off x="1728216" y="1463040"/>
            <a:ext cx="1280160" cy="822960"/>
          </a:xfrm>
          <a:prstGeom prst="diamond">
            <a:avLst/>
          </a:prstGeom>
          <a:solidFill>
            <a:schemeClr val="accent2">
              <a:alpha val="20000"/>
            </a:schemeClr>
          </a:solidFill>
          <a:ln w="15875">
            <a:solidFill>
              <a:schemeClr val="accent2"/>
            </a:solidFill>
          </a:ln>
        </p:spPr>
        <p:txBody>
          <a:bodyPr wrap="square" lIns="0" tIns="0" rIns="0" bIns="0" rtlCol="0" anchor="ctr"/>
          <a:lstStyle/>
          <a:p>
            <a:pPr algn="ctr" indent="0" marL="0">
              <a:buNone/>
            </a:pPr>
            <a:r>
              <a:rPr lang="en-US" sz="1000" b="1" dirty="0">
                <a:solidFill>
                  <a:schemeClr val="tx1"/>
                </a:solidFill>
              </a:rPr>
              <a:t>Error rising?</a:t>
            </a:r>
            <a:endParaRPr lang="en-US" sz="1000" dirty="0"/>
          </a:p>
        </p:txBody>
      </p:sp>
      <p:sp>
        <p:nvSpPr>
          <p:cNvPr id="9" name="node-114"/>
          <p:cNvSpPr txBox="1"/>
          <p:nvPr/>
        </p:nvSpPr>
        <p:spPr>
          <a:xfrm>
            <a:off x="3273552" y="1508760"/>
            <a:ext cx="1143000" cy="731520"/>
          </a:xfrm>
          <a:prstGeom prst="roundRect">
            <a:avLst>
              <a:gd name="adj" fmla="val 10000"/>
            </a:avLst>
          </a:prstGeom>
          <a:solidFill>
            <a:schemeClr val="bg1"/>
          </a:solidFill>
          <a:ln w="12700">
            <a:solidFill>
              <a:schemeClr val="accent1"/>
            </a:solidFill>
          </a:ln>
        </p:spPr>
        <p:txBody>
          <a:bodyPr wrap="square" lIns="635" tIns="635" rIns="635" bIns="635" rtlCol="0" anchor="ctr"/>
          <a:lstStyle/>
          <a:p>
            <a:pPr algn="ctr" indent="0" marL="0">
              <a:buNone/>
            </a:pPr>
            <a:r>
              <a:rPr lang="en-US" sz="1100" dirty="0">
                <a:solidFill>
                  <a:schemeClr val="tx1"/>
                </a:solidFill>
              </a:rPr>
              <a:t>Train a little + make 3 sizes</a:t>
            </a:r>
            <a:endParaRPr lang="en-US" sz="1100" dirty="0"/>
          </a:p>
        </p:txBody>
      </p:sp>
      <p:sp>
        <p:nvSpPr>
          <p:cNvPr id="10" name="node-115"/>
          <p:cNvSpPr txBox="1"/>
          <p:nvPr/>
        </p:nvSpPr>
        <p:spPr>
          <a:xfrm>
            <a:off x="4681728" y="1508760"/>
            <a:ext cx="1188720" cy="731520"/>
          </a:xfrm>
          <a:prstGeom prst="roundRect">
            <a:avLst>
              <a:gd name="adj" fmla="val 10000"/>
            </a:avLst>
          </a:prstGeom>
          <a:solidFill>
            <a:schemeClr val="bg1"/>
          </a:solidFill>
          <a:ln w="12700">
            <a:solidFill>
              <a:schemeClr val="accent1"/>
            </a:solidFill>
          </a:ln>
        </p:spPr>
        <p:txBody>
          <a:bodyPr wrap="square" lIns="635" tIns="635" rIns="635" bIns="635" rtlCol="0" anchor="ctr"/>
          <a:lstStyle/>
          <a:p>
            <a:pPr algn="ctr" indent="0" marL="0">
              <a:buNone/>
            </a:pPr>
            <a:r>
              <a:rPr lang="en-US" sz="1100" dirty="0">
                <a:solidFill>
                  <a:schemeClr val="tx1"/>
                </a:solidFill>
              </a:rPr>
              <a:t>Test each on recent local data</a:t>
            </a:r>
            <a:endParaRPr lang="en-US" sz="1100" dirty="0"/>
          </a:p>
        </p:txBody>
      </p:sp>
      <p:sp>
        <p:nvSpPr>
          <p:cNvPr id="11" name="node-116"/>
          <p:cNvSpPr txBox="1"/>
          <p:nvPr/>
        </p:nvSpPr>
        <p:spPr>
          <a:xfrm>
            <a:off x="6135624" y="1463040"/>
            <a:ext cx="1280160" cy="822960"/>
          </a:xfrm>
          <a:prstGeom prst="diamond">
            <a:avLst/>
          </a:prstGeom>
          <a:solidFill>
            <a:schemeClr val="accent2">
              <a:alpha val="20000"/>
            </a:schemeClr>
          </a:solidFill>
          <a:ln w="15875">
            <a:solidFill>
              <a:schemeClr val="accent2"/>
            </a:solidFill>
          </a:ln>
        </p:spPr>
        <p:txBody>
          <a:bodyPr wrap="square" lIns="0" tIns="0" rIns="0" bIns="0" rtlCol="0" anchor="ctr"/>
          <a:lstStyle/>
          <a:p>
            <a:pPr algn="ctr" indent="0" marL="0">
              <a:buNone/>
            </a:pPr>
            <a:r>
              <a:rPr lang="en-US" sz="1000" b="1" dirty="0">
                <a:solidFill>
                  <a:schemeClr val="tx1"/>
                </a:solidFill>
              </a:rPr>
              <a:t>Worth the bytes?</a:t>
            </a:r>
            <a:endParaRPr lang="en-US" sz="1000" dirty="0"/>
          </a:p>
        </p:txBody>
      </p:sp>
      <p:sp>
        <p:nvSpPr>
          <p:cNvPr id="12" name="node-117"/>
          <p:cNvSpPr txBox="1"/>
          <p:nvPr/>
        </p:nvSpPr>
        <p:spPr>
          <a:xfrm>
            <a:off x="7680960" y="1508760"/>
            <a:ext cx="1005840" cy="731520"/>
          </a:xfrm>
          <a:prstGeom prst="roundRect">
            <a:avLst>
              <a:gd name="adj" fmla="val 10000"/>
            </a:avLst>
          </a:prstGeom>
          <a:solidFill>
            <a:schemeClr val="accent1"/>
          </a:solidFill>
          <a:ln/>
        </p:spPr>
        <p:txBody>
          <a:bodyPr wrap="square" lIns="635" tIns="635" rIns="635" bIns="635" rtlCol="0" anchor="ctr"/>
          <a:lstStyle/>
          <a:p>
            <a:pPr algn="ctr" indent="0" marL="0">
              <a:buNone/>
            </a:pPr>
            <a:r>
              <a:rPr lang="en-US" sz="1100" b="1" dirty="0">
                <a:solidFill>
                  <a:schemeClr val="bg1"/>
                </a:solidFill>
              </a:rPr>
              <a:t>Send a tiny offer</a:t>
            </a:r>
            <a:endParaRPr lang="en-US" sz="1100" dirty="0"/>
          </a:p>
        </p:txBody>
      </p:sp>
      <p:sp>
        <p:nvSpPr>
          <p:cNvPr id="13" name="line-118"/>
          <p:cNvSpPr/>
          <p:nvPr/>
        </p:nvSpPr>
        <p:spPr>
          <a:xfrm>
            <a:off x="1463040" y="1874520"/>
            <a:ext cx="265176" cy="0"/>
          </a:xfrm>
          <a:prstGeom prst="line">
            <a:avLst/>
          </a:prstGeom>
          <a:noFill/>
          <a:ln w="19050">
            <a:solidFill>
              <a:schemeClr val="tx1"/>
            </a:solidFill>
            <a:prstDash val="solid"/>
            <a:tailEnd type="triangle"/>
          </a:ln>
        </p:spPr>
      </p:sp>
      <p:sp>
        <p:nvSpPr>
          <p:cNvPr id="14" name="line-119"/>
          <p:cNvSpPr/>
          <p:nvPr/>
        </p:nvSpPr>
        <p:spPr>
          <a:xfrm>
            <a:off x="3008376" y="1874520"/>
            <a:ext cx="265176" cy="0"/>
          </a:xfrm>
          <a:prstGeom prst="line">
            <a:avLst/>
          </a:prstGeom>
          <a:noFill/>
          <a:ln w="19050">
            <a:solidFill>
              <a:schemeClr val="tx1"/>
            </a:solidFill>
            <a:prstDash val="solid"/>
            <a:tailEnd type="triangle"/>
          </a:ln>
        </p:spPr>
      </p:sp>
      <p:sp>
        <p:nvSpPr>
          <p:cNvPr id="15" name="line-120"/>
          <p:cNvSpPr/>
          <p:nvPr/>
        </p:nvSpPr>
        <p:spPr>
          <a:xfrm>
            <a:off x="4416552" y="1874520"/>
            <a:ext cx="265176" cy="0"/>
          </a:xfrm>
          <a:prstGeom prst="line">
            <a:avLst/>
          </a:prstGeom>
          <a:noFill/>
          <a:ln w="19050">
            <a:solidFill>
              <a:schemeClr val="tx1"/>
            </a:solidFill>
            <a:prstDash val="solid"/>
            <a:tailEnd type="triangle"/>
          </a:ln>
        </p:spPr>
      </p:sp>
      <p:sp>
        <p:nvSpPr>
          <p:cNvPr id="16" name="line-121"/>
          <p:cNvSpPr/>
          <p:nvPr/>
        </p:nvSpPr>
        <p:spPr>
          <a:xfrm>
            <a:off x="5870448" y="1874520"/>
            <a:ext cx="265176" cy="0"/>
          </a:xfrm>
          <a:prstGeom prst="line">
            <a:avLst/>
          </a:prstGeom>
          <a:noFill/>
          <a:ln w="19050">
            <a:solidFill>
              <a:schemeClr val="tx1"/>
            </a:solidFill>
            <a:prstDash val="solid"/>
            <a:tailEnd type="triangle"/>
          </a:ln>
        </p:spPr>
      </p:sp>
      <p:sp>
        <p:nvSpPr>
          <p:cNvPr id="17" name="line-122"/>
          <p:cNvSpPr/>
          <p:nvPr/>
        </p:nvSpPr>
        <p:spPr>
          <a:xfrm>
            <a:off x="7415784" y="1874520"/>
            <a:ext cx="265176" cy="0"/>
          </a:xfrm>
          <a:prstGeom prst="line">
            <a:avLst/>
          </a:prstGeom>
          <a:noFill/>
          <a:ln w="19050">
            <a:solidFill>
              <a:schemeClr val="tx1"/>
            </a:solidFill>
            <a:prstDash val="solid"/>
            <a:tailEnd type="triangle"/>
          </a:ln>
        </p:spPr>
      </p:sp>
      <p:sp>
        <p:nvSpPr>
          <p:cNvPr id="18" name="node-123"/>
          <p:cNvSpPr txBox="1"/>
          <p:nvPr/>
        </p:nvSpPr>
        <p:spPr>
          <a:xfrm>
            <a:off x="2985516" y="1325880"/>
            <a:ext cx="310896" cy="182880"/>
          </a:xfrm>
          <a:prstGeom prst="roundRect">
            <a:avLst>
              <a:gd name="adj" fmla="val 65000"/>
            </a:avLst>
          </a:prstGeom>
          <a:solidFill>
            <a:schemeClr val="accent3"/>
          </a:solidFill>
          <a:ln/>
        </p:spPr>
        <p:txBody>
          <a:bodyPr wrap="square" lIns="254" tIns="254" rIns="254" bIns="254" rtlCol="0" anchor="ctr"/>
          <a:lstStyle/>
          <a:p>
            <a:pPr algn="ctr" indent="0" marL="0">
              <a:buNone/>
            </a:pPr>
            <a:r>
              <a:rPr lang="en-US" sz="900" b="1" dirty="0">
                <a:solidFill>
                  <a:schemeClr val="bg1"/>
                </a:solidFill>
              </a:rPr>
              <a:t>Yes</a:t>
            </a:r>
            <a:endParaRPr lang="en-US" sz="900" dirty="0"/>
          </a:p>
        </p:txBody>
      </p:sp>
      <p:sp>
        <p:nvSpPr>
          <p:cNvPr id="19" name="node-124"/>
          <p:cNvSpPr txBox="1"/>
          <p:nvPr/>
        </p:nvSpPr>
        <p:spPr>
          <a:xfrm>
            <a:off x="7392924" y="1325880"/>
            <a:ext cx="310896" cy="182880"/>
          </a:xfrm>
          <a:prstGeom prst="roundRect">
            <a:avLst>
              <a:gd name="adj" fmla="val 65000"/>
            </a:avLst>
          </a:prstGeom>
          <a:solidFill>
            <a:schemeClr val="accent3"/>
          </a:solidFill>
          <a:ln/>
        </p:spPr>
        <p:txBody>
          <a:bodyPr wrap="square" lIns="254" tIns="254" rIns="254" bIns="254" rtlCol="0" anchor="ctr"/>
          <a:lstStyle/>
          <a:p>
            <a:pPr algn="ctr" indent="0" marL="0">
              <a:buNone/>
            </a:pPr>
            <a:r>
              <a:rPr lang="en-US" sz="900" b="1" dirty="0">
                <a:solidFill>
                  <a:schemeClr val="bg1"/>
                </a:solidFill>
              </a:rPr>
              <a:t>Yes</a:t>
            </a:r>
            <a:endParaRPr lang="en-US" sz="900" dirty="0"/>
          </a:p>
        </p:txBody>
      </p:sp>
      <p:sp>
        <p:nvSpPr>
          <p:cNvPr id="20" name="line-125"/>
          <p:cNvSpPr/>
          <p:nvPr/>
        </p:nvSpPr>
        <p:spPr>
          <a:xfrm>
            <a:off x="2368296" y="2286000"/>
            <a:ext cx="0" cy="256032"/>
          </a:xfrm>
          <a:prstGeom prst="line">
            <a:avLst/>
          </a:prstGeom>
          <a:noFill/>
          <a:ln w="15875">
            <a:solidFill>
              <a:schemeClr val="tx1"/>
            </a:solidFill>
            <a:prstDash val="solid"/>
            <a:tailEnd type="triangle"/>
          </a:ln>
        </p:spPr>
      </p:sp>
      <p:sp>
        <p:nvSpPr>
          <p:cNvPr id="21" name="node-126"/>
          <p:cNvSpPr txBox="1"/>
          <p:nvPr/>
        </p:nvSpPr>
        <p:spPr>
          <a:xfrm>
            <a:off x="2423160" y="2322576"/>
            <a:ext cx="310896" cy="182880"/>
          </a:xfrm>
          <a:prstGeom prst="roundRect">
            <a:avLst>
              <a:gd name="adj" fmla="val 65000"/>
            </a:avLst>
          </a:prstGeom>
          <a:solidFill>
            <a:schemeClr val="accent5"/>
          </a:solidFill>
          <a:ln/>
        </p:spPr>
        <p:txBody>
          <a:bodyPr wrap="square" lIns="254" tIns="254" rIns="254" bIns="254" rtlCol="0" anchor="ctr"/>
          <a:lstStyle/>
          <a:p>
            <a:pPr algn="ctr" indent="0" marL="0">
              <a:buNone/>
            </a:pPr>
            <a:r>
              <a:rPr lang="en-US" sz="900" b="1" dirty="0">
                <a:solidFill>
                  <a:schemeClr val="bg1"/>
                </a:solidFill>
              </a:rPr>
              <a:t>No</a:t>
            </a:r>
            <a:endParaRPr lang="en-US" sz="900" dirty="0"/>
          </a:p>
        </p:txBody>
      </p:sp>
      <p:sp>
        <p:nvSpPr>
          <p:cNvPr id="22" name="node-127"/>
          <p:cNvSpPr txBox="1"/>
          <p:nvPr/>
        </p:nvSpPr>
        <p:spPr>
          <a:xfrm>
            <a:off x="1728216" y="2542032"/>
            <a:ext cx="1280160" cy="310896"/>
          </a:xfrm>
          <a:prstGeom prst="roundRect">
            <a:avLst>
              <a:gd name="adj" fmla="val 23529"/>
            </a:avLst>
          </a:prstGeom>
          <a:solidFill>
            <a:schemeClr val="accent3">
              <a:alpha val="15000"/>
            </a:schemeClr>
          </a:solidFill>
          <a:ln w="12700">
            <a:solidFill>
              <a:schemeClr val="accent3"/>
            </a:solidFill>
          </a:ln>
        </p:spPr>
        <p:txBody>
          <a:bodyPr wrap="square" lIns="635" tIns="635" rIns="635" bIns="635" rtlCol="0" anchor="ctr"/>
          <a:lstStyle/>
          <a:p>
            <a:pPr algn="ctr" indent="0" marL="0">
              <a:buNone/>
            </a:pPr>
            <a:r>
              <a:rPr lang="en-US" sz="1000" b="1" dirty="0">
                <a:solidFill>
                  <a:schemeClr val="tx1"/>
                </a:solidFill>
              </a:rPr>
              <a:t>Quiet: 0 bytes</a:t>
            </a:r>
            <a:endParaRPr lang="en-US" sz="1000" dirty="0"/>
          </a:p>
        </p:txBody>
      </p:sp>
      <p:sp>
        <p:nvSpPr>
          <p:cNvPr id="23" name="line-128"/>
          <p:cNvSpPr/>
          <p:nvPr/>
        </p:nvSpPr>
        <p:spPr>
          <a:xfrm>
            <a:off x="6775704" y="2286000"/>
            <a:ext cx="0" cy="256032"/>
          </a:xfrm>
          <a:prstGeom prst="line">
            <a:avLst/>
          </a:prstGeom>
          <a:noFill/>
          <a:ln w="15875">
            <a:solidFill>
              <a:schemeClr val="tx1"/>
            </a:solidFill>
            <a:prstDash val="solid"/>
            <a:tailEnd type="triangle"/>
          </a:ln>
        </p:spPr>
      </p:sp>
      <p:sp>
        <p:nvSpPr>
          <p:cNvPr id="24" name="node-129"/>
          <p:cNvSpPr txBox="1"/>
          <p:nvPr/>
        </p:nvSpPr>
        <p:spPr>
          <a:xfrm>
            <a:off x="6830568" y="2322576"/>
            <a:ext cx="310896" cy="182880"/>
          </a:xfrm>
          <a:prstGeom prst="roundRect">
            <a:avLst>
              <a:gd name="adj" fmla="val 65000"/>
            </a:avLst>
          </a:prstGeom>
          <a:solidFill>
            <a:schemeClr val="accent5"/>
          </a:solidFill>
          <a:ln/>
        </p:spPr>
        <p:txBody>
          <a:bodyPr wrap="square" lIns="254" tIns="254" rIns="254" bIns="254" rtlCol="0" anchor="ctr"/>
          <a:lstStyle/>
          <a:p>
            <a:pPr algn="ctr" indent="0" marL="0">
              <a:buNone/>
            </a:pPr>
            <a:r>
              <a:rPr lang="en-US" sz="900" b="1" dirty="0">
                <a:solidFill>
                  <a:schemeClr val="bg1"/>
                </a:solidFill>
              </a:rPr>
              <a:t>No</a:t>
            </a:r>
            <a:endParaRPr lang="en-US" sz="900" dirty="0"/>
          </a:p>
        </p:txBody>
      </p:sp>
      <p:sp>
        <p:nvSpPr>
          <p:cNvPr id="25" name="node-130"/>
          <p:cNvSpPr txBox="1"/>
          <p:nvPr/>
        </p:nvSpPr>
        <p:spPr>
          <a:xfrm>
            <a:off x="6135624" y="2542032"/>
            <a:ext cx="1280160" cy="310896"/>
          </a:xfrm>
          <a:prstGeom prst="roundRect">
            <a:avLst>
              <a:gd name="adj" fmla="val 23529"/>
            </a:avLst>
          </a:prstGeom>
          <a:solidFill>
            <a:schemeClr val="accent6">
              <a:alpha val="15000"/>
            </a:schemeClr>
          </a:solidFill>
          <a:ln w="12700">
            <a:solidFill>
              <a:schemeClr val="accent6"/>
            </a:solidFill>
          </a:ln>
        </p:spPr>
        <p:txBody>
          <a:bodyPr wrap="square" lIns="635" tIns="635" rIns="635" bIns="635" rtlCol="0" anchor="ctr"/>
          <a:lstStyle/>
          <a:p>
            <a:pPr algn="ctr" indent="0" marL="0">
              <a:buNone/>
            </a:pPr>
            <a:r>
              <a:rPr lang="en-US" sz="1000" dirty="0">
                <a:solidFill>
                  <a:schemeClr val="tx1"/>
                </a:solidFill>
              </a:rPr>
              <a:t>Keep it, try later</a:t>
            </a:r>
            <a:endParaRPr lang="en-US" sz="1000" dirty="0"/>
          </a:p>
        </p:txBody>
      </p:sp>
      <p:sp>
        <p:nvSpPr>
          <p:cNvPr id="26" name="node-131"/>
          <p:cNvSpPr txBox="1"/>
          <p:nvPr/>
        </p:nvSpPr>
        <p:spPr>
          <a:xfrm>
            <a:off x="365760" y="3429000"/>
            <a:ext cx="8412480" cy="1143000"/>
          </a:xfrm>
          <a:prstGeom prst="roundRect">
            <a:avLst>
              <a:gd name="adj" fmla="val 4000"/>
            </a:avLst>
          </a:prstGeom>
          <a:solidFill>
            <a:schemeClr val="bg2"/>
          </a:solidFill>
          <a:ln w="15875">
            <a:solidFill>
              <a:schemeClr val="tx2"/>
            </a:solidFill>
          </a:ln>
        </p:spPr>
        <p:txBody>
          <a:bodyPr wrap="square" lIns="635" tIns="635" rIns="635" bIns="635" rtlCol="0" anchor="ctr"/>
          <a:lstStyle/>
          <a:p>
            <a:pPr algn="ctr" indent="0" marL="0">
              <a:buNone/>
            </a:pPr>
            <a:endParaRPr lang="en-US" sz="1200" dirty="0"/>
          </a:p>
        </p:txBody>
      </p:sp>
      <p:sp>
        <p:nvSpPr>
          <p:cNvPr id="27" name="node-132"/>
          <p:cNvSpPr txBox="1"/>
          <p:nvPr/>
        </p:nvSpPr>
        <p:spPr>
          <a:xfrm>
            <a:off x="1188720" y="3474720"/>
            <a:ext cx="2011680" cy="237744"/>
          </a:xfrm>
          <a:prstGeom prst="roundRect">
            <a:avLst>
              <a:gd name="adj" fmla="val 50000"/>
            </a:avLst>
          </a:prstGeom>
          <a:solidFill>
            <a:schemeClr val="tx2"/>
          </a:solidFill>
          <a:ln/>
        </p:spPr>
        <p:txBody>
          <a:bodyPr wrap="square" lIns="254" tIns="254" rIns="254" bIns="254" rtlCol="0" anchor="ctr"/>
          <a:lstStyle/>
          <a:p>
            <a:pPr algn="ctr" indent="0" marL="0">
              <a:buNone/>
            </a:pPr>
            <a:r>
              <a:rPr lang="en-US" sz="1000" b="1" dirty="0">
                <a:solidFill>
                  <a:schemeClr val="bg1"/>
                </a:solidFill>
              </a:rPr>
              <a:t>CLOUD COORDINATOR</a:t>
            </a:r>
            <a:endParaRPr lang="en-US" sz="1000" dirty="0"/>
          </a:p>
        </p:txBody>
      </p:sp>
      <p:sp>
        <p:nvSpPr>
          <p:cNvPr id="28" name="node-133"/>
          <p:cNvSpPr txBox="1"/>
          <p:nvPr/>
        </p:nvSpPr>
        <p:spPr>
          <a:xfrm>
            <a:off x="7223760" y="3794760"/>
            <a:ext cx="1463040" cy="640080"/>
          </a:xfrm>
          <a:prstGeom prst="roundRect">
            <a:avLst>
              <a:gd name="adj" fmla="val 11429"/>
            </a:avLst>
          </a:prstGeom>
          <a:solidFill>
            <a:schemeClr val="bg1"/>
          </a:solidFill>
          <a:ln w="12700">
            <a:solidFill>
              <a:schemeClr val="tx2"/>
            </a:solidFill>
          </a:ln>
        </p:spPr>
        <p:txBody>
          <a:bodyPr wrap="square" lIns="635" tIns="635" rIns="635" bIns="635" rtlCol="0" anchor="ctr"/>
          <a:lstStyle/>
          <a:p>
            <a:pPr algn="ctr" indent="0" marL="0">
              <a:buNone/>
            </a:pPr>
            <a:r>
              <a:rPr lang="en-US" sz="1100" dirty="0">
                <a:solidFill>
                  <a:schemeClr val="tx1"/>
                </a:solidFill>
              </a:rPr>
              <a:t>Rank by gain per byte</a:t>
            </a:r>
            <a:endParaRPr lang="en-US" sz="1100" dirty="0"/>
          </a:p>
        </p:txBody>
      </p:sp>
      <p:sp>
        <p:nvSpPr>
          <p:cNvPr id="29" name="node-134"/>
          <p:cNvSpPr txBox="1"/>
          <p:nvPr/>
        </p:nvSpPr>
        <p:spPr>
          <a:xfrm>
            <a:off x="5486400" y="3794760"/>
            <a:ext cx="1463040" cy="640080"/>
          </a:xfrm>
          <a:prstGeom prst="roundRect">
            <a:avLst>
              <a:gd name="adj" fmla="val 11429"/>
            </a:avLst>
          </a:prstGeom>
          <a:solidFill>
            <a:schemeClr val="bg1"/>
          </a:solidFill>
          <a:ln w="12700">
            <a:solidFill>
              <a:schemeClr val="tx2"/>
            </a:solidFill>
          </a:ln>
        </p:spPr>
        <p:txBody>
          <a:bodyPr wrap="square" lIns="635" tIns="635" rIns="635" bIns="635" rtlCol="0" anchor="ctr"/>
          <a:lstStyle/>
          <a:p>
            <a:pPr algn="ctr" indent="0" marL="0">
              <a:buNone/>
            </a:pPr>
            <a:r>
              <a:rPr lang="en-US" sz="1100" dirty="0">
                <a:solidFill>
                  <a:schemeClr val="tx1"/>
                </a:solidFill>
              </a:rPr>
              <a:t>Keep space for overdue</a:t>
            </a:r>
            <a:endParaRPr lang="en-US" sz="1100" dirty="0"/>
          </a:p>
        </p:txBody>
      </p:sp>
      <p:sp>
        <p:nvSpPr>
          <p:cNvPr id="30" name="node-135"/>
          <p:cNvSpPr txBox="1"/>
          <p:nvPr/>
        </p:nvSpPr>
        <p:spPr>
          <a:xfrm>
            <a:off x="3749040" y="3794760"/>
            <a:ext cx="1463040" cy="640080"/>
          </a:xfrm>
          <a:prstGeom prst="roundRect">
            <a:avLst>
              <a:gd name="adj" fmla="val 11429"/>
            </a:avLst>
          </a:prstGeom>
          <a:solidFill>
            <a:schemeClr val="bg1"/>
          </a:solidFill>
          <a:ln w="12700">
            <a:solidFill>
              <a:schemeClr val="tx2"/>
            </a:solidFill>
          </a:ln>
        </p:spPr>
        <p:txBody>
          <a:bodyPr wrap="square" lIns="635" tIns="635" rIns="635" bIns="635" rtlCol="0" anchor="ctr"/>
          <a:lstStyle/>
          <a:p>
            <a:pPr algn="ctr" indent="0" marL="0">
              <a:buNone/>
            </a:pPr>
            <a:r>
              <a:rPr lang="en-US" sz="1100" dirty="0">
                <a:solidFill>
                  <a:schemeClr val="tx1"/>
                </a:solidFill>
              </a:rPr>
              <a:t>Admit within budget</a:t>
            </a:r>
            <a:endParaRPr lang="en-US" sz="1100" dirty="0"/>
          </a:p>
        </p:txBody>
      </p:sp>
      <p:sp>
        <p:nvSpPr>
          <p:cNvPr id="31" name="node-136"/>
          <p:cNvSpPr txBox="1"/>
          <p:nvPr/>
        </p:nvSpPr>
        <p:spPr>
          <a:xfrm>
            <a:off x="2011680" y="3794760"/>
            <a:ext cx="1463040" cy="640080"/>
          </a:xfrm>
          <a:prstGeom prst="roundRect">
            <a:avLst>
              <a:gd name="adj" fmla="val 11429"/>
            </a:avLst>
          </a:prstGeom>
          <a:solidFill>
            <a:schemeClr val="bg1"/>
          </a:solidFill>
          <a:ln w="12700">
            <a:solidFill>
              <a:schemeClr val="tx2"/>
            </a:solidFill>
          </a:ln>
        </p:spPr>
        <p:txBody>
          <a:bodyPr wrap="square" lIns="635" tIns="635" rIns="635" bIns="635" rtlCol="0" anchor="ctr"/>
          <a:lstStyle/>
          <a:p>
            <a:pPr algn="ctr" indent="0" marL="0">
              <a:buNone/>
            </a:pPr>
            <a:r>
              <a:rPr lang="en-US" sz="1100" dirty="0">
                <a:solidFill>
                  <a:schemeClr val="tx1"/>
                </a:solidFill>
              </a:rPr>
              <a:t>Merge → new model version</a:t>
            </a:r>
            <a:endParaRPr lang="en-US" sz="1100" dirty="0"/>
          </a:p>
        </p:txBody>
      </p:sp>
      <p:sp>
        <p:nvSpPr>
          <p:cNvPr id="32" name="node-137"/>
          <p:cNvSpPr txBox="1"/>
          <p:nvPr/>
        </p:nvSpPr>
        <p:spPr>
          <a:xfrm>
            <a:off x="457200" y="3794760"/>
            <a:ext cx="1280160" cy="640080"/>
          </a:xfrm>
          <a:prstGeom prst="roundRect">
            <a:avLst>
              <a:gd name="adj" fmla="val 11429"/>
            </a:avLst>
          </a:prstGeom>
          <a:solidFill>
            <a:schemeClr val="accent3"/>
          </a:solidFill>
          <a:ln w="12700">
            <a:solidFill>
              <a:schemeClr val="accent3"/>
            </a:solidFill>
          </a:ln>
        </p:spPr>
        <p:txBody>
          <a:bodyPr wrap="square" lIns="635" tIns="635" rIns="635" bIns="635" rtlCol="0" anchor="ctr"/>
          <a:lstStyle/>
          <a:p>
            <a:pPr algn="ctr" indent="0" marL="0">
              <a:buNone/>
            </a:pPr>
            <a:r>
              <a:rPr lang="en-US" sz="1100" b="1" dirty="0">
                <a:solidFill>
                  <a:schemeClr val="bg1"/>
                </a:solidFill>
              </a:rPr>
              <a:t>Send model back</a:t>
            </a:r>
            <a:endParaRPr lang="en-US" sz="1100" dirty="0"/>
          </a:p>
        </p:txBody>
      </p:sp>
      <p:sp>
        <p:nvSpPr>
          <p:cNvPr id="33" name="line-138"/>
          <p:cNvSpPr/>
          <p:nvPr/>
        </p:nvSpPr>
        <p:spPr>
          <a:xfrm flipH="1">
            <a:off x="6949440" y="4114800"/>
            <a:ext cx="274320" cy="0"/>
          </a:xfrm>
          <a:prstGeom prst="line">
            <a:avLst/>
          </a:prstGeom>
          <a:noFill/>
          <a:ln w="19050">
            <a:solidFill>
              <a:schemeClr val="tx1"/>
            </a:solidFill>
            <a:prstDash val="solid"/>
            <a:tailEnd type="triangle"/>
          </a:ln>
        </p:spPr>
      </p:sp>
      <p:sp>
        <p:nvSpPr>
          <p:cNvPr id="34" name="line-139"/>
          <p:cNvSpPr/>
          <p:nvPr/>
        </p:nvSpPr>
        <p:spPr>
          <a:xfrm flipH="1">
            <a:off x="5212080" y="4114800"/>
            <a:ext cx="274320" cy="0"/>
          </a:xfrm>
          <a:prstGeom prst="line">
            <a:avLst/>
          </a:prstGeom>
          <a:noFill/>
          <a:ln w="19050">
            <a:solidFill>
              <a:schemeClr val="tx1"/>
            </a:solidFill>
            <a:prstDash val="solid"/>
            <a:tailEnd type="triangle"/>
          </a:ln>
        </p:spPr>
      </p:sp>
      <p:sp>
        <p:nvSpPr>
          <p:cNvPr id="35" name="line-140"/>
          <p:cNvSpPr/>
          <p:nvPr/>
        </p:nvSpPr>
        <p:spPr>
          <a:xfrm flipH="1">
            <a:off x="3474720" y="4114800"/>
            <a:ext cx="274320" cy="0"/>
          </a:xfrm>
          <a:prstGeom prst="line">
            <a:avLst/>
          </a:prstGeom>
          <a:noFill/>
          <a:ln w="19050">
            <a:solidFill>
              <a:schemeClr val="tx1"/>
            </a:solidFill>
            <a:prstDash val="solid"/>
            <a:tailEnd type="triangle"/>
          </a:ln>
        </p:spPr>
      </p:sp>
      <p:sp>
        <p:nvSpPr>
          <p:cNvPr id="36" name="line-141"/>
          <p:cNvSpPr/>
          <p:nvPr/>
        </p:nvSpPr>
        <p:spPr>
          <a:xfrm flipH="1">
            <a:off x="1737360" y="4114800"/>
            <a:ext cx="274320" cy="0"/>
          </a:xfrm>
          <a:prstGeom prst="line">
            <a:avLst/>
          </a:prstGeom>
          <a:noFill/>
          <a:ln w="19050">
            <a:solidFill>
              <a:schemeClr val="tx1"/>
            </a:solidFill>
            <a:prstDash val="solid"/>
            <a:tailEnd type="triangle"/>
          </a:ln>
        </p:spPr>
      </p:sp>
      <p:sp>
        <p:nvSpPr>
          <p:cNvPr id="37" name="line-142"/>
          <p:cNvSpPr/>
          <p:nvPr/>
        </p:nvSpPr>
        <p:spPr>
          <a:xfrm>
            <a:off x="8092440" y="2240280"/>
            <a:ext cx="0" cy="1554480"/>
          </a:xfrm>
          <a:prstGeom prst="line">
            <a:avLst/>
          </a:prstGeom>
          <a:noFill/>
          <a:ln w="22225">
            <a:solidFill>
              <a:schemeClr val="accent1"/>
            </a:solidFill>
            <a:prstDash val="solid"/>
            <a:tailEnd type="triangle"/>
          </a:ln>
        </p:spPr>
      </p:sp>
      <p:sp>
        <p:nvSpPr>
          <p:cNvPr id="38" name="node-143"/>
          <p:cNvSpPr txBox="1"/>
          <p:nvPr/>
        </p:nvSpPr>
        <p:spPr>
          <a:xfrm>
            <a:off x="8165592" y="3108960"/>
            <a:ext cx="502920" cy="201168"/>
          </a:xfrm>
          <a:prstGeom prst="roundRect">
            <a:avLst>
              <a:gd name="adj" fmla="val 59091"/>
            </a:avLst>
          </a:prstGeom>
          <a:solidFill>
            <a:schemeClr val="accent1"/>
          </a:solidFill>
          <a:ln/>
        </p:spPr>
        <p:txBody>
          <a:bodyPr wrap="square" lIns="254" tIns="254" rIns="254" bIns="254" rtlCol="0" anchor="ctr"/>
          <a:lstStyle/>
          <a:p>
            <a:pPr algn="ctr" indent="0" marL="0">
              <a:buNone/>
            </a:pPr>
            <a:r>
              <a:rPr lang="en-US" sz="900" b="1" dirty="0">
                <a:solidFill>
                  <a:schemeClr val="bg1"/>
                </a:solidFill>
              </a:rPr>
              <a:t>offer</a:t>
            </a:r>
            <a:endParaRPr lang="en-US" sz="900" dirty="0"/>
          </a:p>
        </p:txBody>
      </p:sp>
      <p:sp>
        <p:nvSpPr>
          <p:cNvPr id="39" name="text-144"/>
          <p:cNvSpPr txBox="1"/>
          <p:nvPr/>
        </p:nvSpPr>
        <p:spPr>
          <a:xfrm>
            <a:off x="6035040" y="3108960"/>
            <a:ext cx="2057400" cy="201168"/>
          </a:xfrm>
          <a:prstGeom prst="rect">
            <a:avLst/>
          </a:prstGeom>
          <a:noFill/>
          <a:ln/>
        </p:spPr>
        <p:txBody>
          <a:bodyPr wrap="square" lIns="0" tIns="0" rIns="0" bIns="0" rtlCol="0" anchor="t"/>
          <a:lstStyle/>
          <a:p>
            <a:pPr algn="r" indent="0" marL="0">
              <a:buNone/>
            </a:pPr>
            <a:r>
              <a:rPr lang="en-US" sz="1000" dirty="0">
                <a:solidFill>
                  <a:schemeClr val="accent6"/>
                </a:solidFill>
              </a:rPr>
              <a:t>(then upload, if admitted)</a:t>
            </a:r>
            <a:endParaRPr lang="en-US" sz="1000" dirty="0"/>
          </a:p>
        </p:txBody>
      </p:sp>
      <p:sp>
        <p:nvSpPr>
          <p:cNvPr id="40" name="line-145"/>
          <p:cNvSpPr/>
          <p:nvPr/>
        </p:nvSpPr>
        <p:spPr>
          <a:xfrm flipV="1">
            <a:off x="960120" y="2240280"/>
            <a:ext cx="0" cy="1554480"/>
          </a:xfrm>
          <a:prstGeom prst="line">
            <a:avLst/>
          </a:prstGeom>
          <a:noFill/>
          <a:ln w="22225">
            <a:solidFill>
              <a:schemeClr val="accent3"/>
            </a:solidFill>
            <a:prstDash val="solid"/>
            <a:tailEnd type="triangle"/>
          </a:ln>
        </p:spPr>
      </p:sp>
      <p:sp>
        <p:nvSpPr>
          <p:cNvPr id="41" name="node-146"/>
          <p:cNvSpPr txBox="1"/>
          <p:nvPr/>
        </p:nvSpPr>
        <p:spPr>
          <a:xfrm>
            <a:off x="1033272" y="3108960"/>
            <a:ext cx="731520" cy="201168"/>
          </a:xfrm>
          <a:prstGeom prst="roundRect">
            <a:avLst>
              <a:gd name="adj" fmla="val 59091"/>
            </a:avLst>
          </a:prstGeom>
          <a:solidFill>
            <a:schemeClr val="accent3"/>
          </a:solidFill>
          <a:ln/>
        </p:spPr>
        <p:txBody>
          <a:bodyPr wrap="square" lIns="254" tIns="254" rIns="254" bIns="254" rtlCol="0" anchor="ctr"/>
          <a:lstStyle/>
          <a:p>
            <a:pPr algn="ctr" indent="0" marL="0">
              <a:buNone/>
            </a:pPr>
            <a:r>
              <a:rPr lang="en-US" sz="900" b="1" dirty="0">
                <a:solidFill>
                  <a:schemeClr val="bg1"/>
                </a:solidFill>
              </a:rPr>
              <a:t>new model</a:t>
            </a:r>
            <a:endParaRPr lang="en-US" sz="900" dirty="0"/>
          </a:p>
        </p:txBody>
      </p:sp>
      <p:sp>
        <p:nvSpPr>
          <p:cNvPr id="42" name="text-147"/>
          <p:cNvSpPr txBox="1"/>
          <p:nvPr/>
        </p:nvSpPr>
        <p:spPr>
          <a:xfrm>
            <a:off x="365760" y="4617720"/>
            <a:ext cx="8412480" cy="182880"/>
          </a:xfrm>
          <a:prstGeom prst="rect">
            <a:avLst/>
          </a:prstGeom>
          <a:noFill/>
          <a:ln/>
        </p:spPr>
        <p:txBody>
          <a:bodyPr wrap="square" lIns="0" tIns="0" rIns="0" bIns="0" rtlCol="0" anchor="t"/>
          <a:lstStyle/>
          <a:p>
            <a:pPr algn="l" indent="0" marL="0">
              <a:buNone/>
            </a:pPr>
            <a:r>
              <a:rPr lang="en-US" sz="900" dirty="0">
                <a:solidFill>
                  <a:schemeClr val="accent6"/>
                </a:solidFill>
              </a:rPr>
              <a:t>Figure: UML-style activity diagram. Byte ledger logs every message; live dashboard reads it. An optional regional gateway can merge updates before the long link.</a:t>
            </a:r>
            <a:endParaRPr lang="en-US" sz="900" dirty="0"/>
          </a:p>
        </p:txBody>
      </p:sp>
      <p:sp>
        <p:nvSpPr>
          <p:cNvPr id="25" name="Slide Number Placeholder 0"/>
          <p:cNvSpPr>
            <a:spLocks noGrp="1"/>
          </p:cNvSpPr>
          <p:nvPr>
            <p:ph type="sldNum" sz="quarter" idx="4294967295"/>
          </p:nvPr>
        </p:nvSpPr>
        <p:spPr>
          <a:xfrm>
            <a:off x="7845552" y="4828032"/>
            <a:ext cx="658368"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header-label"/>
          <p:cNvSpPr txBox="1"/>
          <p:nvPr/>
        </p:nvSpPr>
        <p:spPr>
          <a:xfrm>
            <a:off x="2286000" y="91440"/>
            <a:ext cx="4572000" cy="228600"/>
          </a:xfrm>
          <a:prstGeom prst="rect">
            <a:avLst/>
          </a:prstGeom>
          <a:noFill/>
          <a:ln/>
        </p:spPr>
        <p:txBody>
          <a:bodyPr wrap="square" lIns="0" tIns="0" rIns="0" bIns="0" rtlCol="0" anchor="ctr"/>
          <a:lstStyle/>
          <a:p>
            <a:pPr algn="ctr" indent="0" marL="0">
              <a:buNone/>
            </a:pPr>
            <a:r>
              <a:rPr lang="en-US" sz="1000" b="1" dirty="0">
                <a:solidFill>
                  <a:schemeClr val="accent1"/>
                </a:solidFill>
              </a:rPr>
              <a:t>AIORI 3</a:t>
            </a:r>
            <a:pPr algn="ctr" indent="0" marL="0">
              <a:buNone/>
            </a:pPr>
            <a:r>
              <a:rPr lang="en-US" sz="1000" dirty="0">
                <a:solidFill>
                  <a:schemeClr val="accent1"/>
                </a:solidFill>
              </a:rPr>
              <a:t>     Data Flow Diagram</a:t>
            </a:r>
            <a:endParaRPr lang="en-US" sz="1000" dirty="0"/>
          </a:p>
        </p:txBody>
      </p:sp>
      <p:sp>
        <p:nvSpPr>
          <p:cNvPr id="3" name="Text 2"/>
          <p:cNvSpPr/>
          <p:nvPr>
            <p:ph idx="102" type="title" hasCustomPrompt="1"/>
          </p:nvPr>
        </p:nvSpPr>
        <p:spPr>
          <a:xfrm>
            <a:off x="457200" y="347472"/>
            <a:ext cx="8229600" cy="566928"/>
          </a:xfrm>
          <a:prstGeom prst="rect">
            <a:avLst/>
          </a:prstGeom>
          <a:noFill/>
          <a:ln/>
        </p:spPr>
        <p:txBody>
          <a:bodyPr wrap="square" lIns="0" tIns="0" rIns="0" bIns="0" rtlCol="0" anchor="ctr"/>
          <a:lstStyle/>
          <a:p>
            <a:pPr algn="l" indent="0" marL="0">
              <a:buNone/>
            </a:pPr>
            <a:r>
              <a:rPr lang="en-US" sz="3200" b="1" dirty="0">
                <a:solidFill>
                  <a:schemeClr val="accent1"/>
                </a:solidFill>
              </a:rPr>
              <a:t>Data Flow Diagram</a:t>
            </a:r>
            <a:endParaRPr lang="en-US" sz="3200" dirty="0"/>
          </a:p>
        </p:txBody>
      </p:sp>
      <p:sp>
        <p:nvSpPr>
          <p:cNvPr id="5" name="node-148"/>
          <p:cNvSpPr txBox="1"/>
          <p:nvPr/>
        </p:nvSpPr>
        <p:spPr>
          <a:xfrm>
            <a:off x="365760" y="1051560"/>
            <a:ext cx="4526280" cy="3246120"/>
          </a:xfrm>
          <a:prstGeom prst="rect">
            <a:avLst/>
          </a:prstGeom>
          <a:ln w="25400">
            <a:solidFill>
              <a:schemeClr val="accent2"/>
            </a:solidFill>
            <a:prstDash val="dash"/>
          </a:ln>
        </p:spPr>
        <p:txBody>
          <a:bodyPr wrap="square" lIns="635" tIns="635" rIns="635" bIns="635" rtlCol="0" anchor="ctr"/>
          <a:lstStyle/>
          <a:p>
            <a:pPr algn="ctr" indent="0" marL="0">
              <a:buNone/>
            </a:pPr>
            <a:endParaRPr lang="en-US" sz="1200" dirty="0"/>
          </a:p>
        </p:txBody>
      </p:sp>
      <p:sp>
        <p:nvSpPr>
          <p:cNvPr id="6" name="node-149"/>
          <p:cNvSpPr txBox="1"/>
          <p:nvPr/>
        </p:nvSpPr>
        <p:spPr>
          <a:xfrm>
            <a:off x="457200" y="1097280"/>
            <a:ext cx="2103120" cy="228600"/>
          </a:xfrm>
          <a:prstGeom prst="roundRect">
            <a:avLst>
              <a:gd name="adj" fmla="val 52000"/>
            </a:avLst>
          </a:prstGeom>
          <a:solidFill>
            <a:schemeClr val="accent2"/>
          </a:solidFill>
          <a:ln/>
        </p:spPr>
        <p:txBody>
          <a:bodyPr wrap="square" lIns="254" tIns="254" rIns="254" bIns="254" rtlCol="0" anchor="ctr"/>
          <a:lstStyle/>
          <a:p>
            <a:pPr algn="ctr" indent="0" marL="0">
              <a:buNone/>
            </a:pPr>
            <a:r>
              <a:rPr lang="en-US" sz="1000" b="1" dirty="0">
                <a:solidFill>
                  <a:schemeClr val="tx1"/>
                </a:solidFill>
              </a:rPr>
              <a:t>JUNCTION: PRIVATE ZONE</a:t>
            </a:r>
            <a:endParaRPr lang="en-US" sz="1000" dirty="0"/>
          </a:p>
        </p:txBody>
      </p:sp>
      <p:sp>
        <p:nvSpPr>
          <p:cNvPr id="7" name="node-150"/>
          <p:cNvSpPr txBox="1"/>
          <p:nvPr/>
        </p:nvSpPr>
        <p:spPr>
          <a:xfrm>
            <a:off x="502920" y="1600200"/>
            <a:ext cx="1005840" cy="548640"/>
          </a:xfrm>
          <a:prstGeom prst="rect">
            <a:avLst/>
          </a:prstGeom>
          <a:solidFill>
            <a:schemeClr val="bg2"/>
          </a:solidFill>
          <a:ln w="12700">
            <a:solidFill>
              <a:schemeClr val="accent6"/>
            </a:solidFill>
          </a:ln>
        </p:spPr>
        <p:txBody>
          <a:bodyPr wrap="square" lIns="635" tIns="635" rIns="635" bIns="635" rtlCol="0" anchor="ctr"/>
          <a:lstStyle/>
          <a:p>
            <a:pPr algn="ctr" indent="0" marL="0">
              <a:buNone/>
            </a:pPr>
            <a:r>
              <a:rPr lang="en-US" sz="1100" dirty="0">
                <a:solidFill>
                  <a:schemeClr val="tx1"/>
                </a:solidFill>
              </a:rPr>
              <a:t>Road sensors</a:t>
            </a:r>
            <a:endParaRPr lang="en-US" sz="1100" dirty="0"/>
          </a:p>
        </p:txBody>
      </p:sp>
      <p:sp>
        <p:nvSpPr>
          <p:cNvPr id="8" name="line-151"/>
          <p:cNvSpPr/>
          <p:nvPr/>
        </p:nvSpPr>
        <p:spPr>
          <a:xfrm>
            <a:off x="1508760" y="1874520"/>
            <a:ext cx="777240" cy="0"/>
          </a:xfrm>
          <a:prstGeom prst="line">
            <a:avLst/>
          </a:prstGeom>
          <a:noFill/>
          <a:ln w="19050">
            <a:solidFill>
              <a:schemeClr val="tx1"/>
            </a:solidFill>
            <a:prstDash val="solid"/>
            <a:tailEnd type="triangle"/>
          </a:ln>
        </p:spPr>
      </p:sp>
      <p:sp>
        <p:nvSpPr>
          <p:cNvPr id="9" name="text-152"/>
          <p:cNvSpPr txBox="1"/>
          <p:nvPr/>
        </p:nvSpPr>
        <p:spPr>
          <a:xfrm>
            <a:off x="1508760" y="1627632"/>
            <a:ext cx="777240" cy="201168"/>
          </a:xfrm>
          <a:prstGeom prst="rect">
            <a:avLst/>
          </a:prstGeom>
          <a:noFill/>
          <a:ln/>
        </p:spPr>
        <p:txBody>
          <a:bodyPr wrap="square" lIns="0" tIns="0" rIns="0" bIns="0" rtlCol="0" anchor="t"/>
          <a:lstStyle/>
          <a:p>
            <a:pPr algn="ctr" indent="0" marL="0">
              <a:buNone/>
            </a:pPr>
            <a:r>
              <a:rPr lang="en-US" sz="1000" dirty="0">
                <a:solidFill>
                  <a:schemeClr val="tx1"/>
                </a:solidFill>
              </a:rPr>
              <a:t>counts, speed</a:t>
            </a:r>
            <a:endParaRPr lang="en-US" sz="1000" dirty="0"/>
          </a:p>
        </p:txBody>
      </p:sp>
      <p:sp>
        <p:nvSpPr>
          <p:cNvPr id="10" name="node-153"/>
          <p:cNvSpPr txBox="1"/>
          <p:nvPr/>
        </p:nvSpPr>
        <p:spPr>
          <a:xfrm>
            <a:off x="2286000" y="1417320"/>
            <a:ext cx="1188720" cy="914400"/>
          </a:xfrm>
          <a:prstGeom prst="ellipse">
            <a:avLst/>
          </a:prstGeom>
          <a:solidFill>
            <a:schemeClr val="accent1"/>
          </a:solidFill>
          <a:ln/>
        </p:spPr>
        <p:txBody>
          <a:bodyPr wrap="square" lIns="635" tIns="635" rIns="635" bIns="635" rtlCol="0" anchor="ctr"/>
          <a:lstStyle/>
          <a:p>
            <a:pPr algn="ctr" indent="0" marL="0">
              <a:buNone/>
            </a:pPr>
            <a:r>
              <a:rPr lang="en-US" sz="1200" b="1" dirty="0">
                <a:solidFill>
                  <a:schemeClr val="bg1"/>
                </a:solidFill>
              </a:rPr>
              <a:t>1 Forecast</a:t>
            </a:r>
            <a:endParaRPr lang="en-US" sz="1200" dirty="0"/>
          </a:p>
        </p:txBody>
      </p:sp>
      <p:sp>
        <p:nvSpPr>
          <p:cNvPr id="11" name="node-154"/>
          <p:cNvSpPr txBox="1"/>
          <p:nvPr/>
        </p:nvSpPr>
        <p:spPr>
          <a:xfrm>
            <a:off x="1920240" y="3337560"/>
            <a:ext cx="1554480" cy="457200"/>
          </a:xfrm>
          <a:prstGeom prst="rect">
            <a:avLst/>
          </a:prstGeom>
          <a:solidFill>
            <a:schemeClr val="bg2"/>
          </a:solidFill>
          <a:ln w="12700">
            <a:solidFill>
              <a:schemeClr val="accent6"/>
            </a:solidFill>
          </a:ln>
        </p:spPr>
        <p:txBody>
          <a:bodyPr wrap="square" lIns="635" tIns="635" rIns="635" bIns="635" rtlCol="0" anchor="ctr"/>
          <a:lstStyle/>
          <a:p>
            <a:pPr algn="ctr" indent="0" marL="0">
              <a:buNone/>
            </a:pPr>
            <a:r>
              <a:rPr lang="en-US" sz="1100" dirty="0">
                <a:solidFill>
                  <a:schemeClr val="tx1"/>
                </a:solidFill>
              </a:rPr>
              <a:t>D1 Local history</a:t>
            </a:r>
            <a:endParaRPr lang="en-US" sz="1100" dirty="0"/>
          </a:p>
        </p:txBody>
      </p:sp>
      <p:sp>
        <p:nvSpPr>
          <p:cNvPr id="12" name="line-155"/>
          <p:cNvSpPr/>
          <p:nvPr/>
        </p:nvSpPr>
        <p:spPr>
          <a:xfrm>
            <a:off x="2880360" y="2331720"/>
            <a:ext cx="0" cy="1005840"/>
          </a:xfrm>
          <a:prstGeom prst="line">
            <a:avLst/>
          </a:prstGeom>
          <a:noFill/>
          <a:ln w="19050">
            <a:solidFill>
              <a:schemeClr val="tx1"/>
            </a:solidFill>
            <a:prstDash val="solid"/>
            <a:headEnd type="triangle"/>
            <a:tailEnd type="triangle"/>
          </a:ln>
        </p:spPr>
      </p:sp>
      <p:sp>
        <p:nvSpPr>
          <p:cNvPr id="13" name="text-156"/>
          <p:cNvSpPr txBox="1"/>
          <p:nvPr/>
        </p:nvSpPr>
        <p:spPr>
          <a:xfrm>
            <a:off x="2971800" y="2743200"/>
            <a:ext cx="594360" cy="201168"/>
          </a:xfrm>
          <a:prstGeom prst="rect">
            <a:avLst/>
          </a:prstGeom>
          <a:noFill/>
          <a:ln/>
        </p:spPr>
        <p:txBody>
          <a:bodyPr wrap="square" lIns="0" tIns="0" rIns="0" bIns="0" rtlCol="0" anchor="t"/>
          <a:lstStyle/>
          <a:p>
            <a:pPr algn="l" indent="0" marL="0">
              <a:buNone/>
            </a:pPr>
            <a:r>
              <a:rPr lang="en-US" sz="1000" dirty="0">
                <a:solidFill>
                  <a:schemeClr val="tx1"/>
                </a:solidFill>
              </a:rPr>
              <a:t>history</a:t>
            </a:r>
            <a:endParaRPr lang="en-US" sz="1000" dirty="0"/>
          </a:p>
        </p:txBody>
      </p:sp>
      <p:sp>
        <p:nvSpPr>
          <p:cNvPr id="14" name="node-157"/>
          <p:cNvSpPr txBox="1"/>
          <p:nvPr/>
        </p:nvSpPr>
        <p:spPr>
          <a:xfrm>
            <a:off x="3611880" y="2651760"/>
            <a:ext cx="1188720" cy="914400"/>
          </a:xfrm>
          <a:prstGeom prst="ellipse">
            <a:avLst/>
          </a:prstGeom>
          <a:solidFill>
            <a:schemeClr val="accent2"/>
          </a:solidFill>
          <a:ln/>
        </p:spPr>
        <p:txBody>
          <a:bodyPr wrap="square" lIns="635" tIns="635" rIns="635" bIns="635" rtlCol="0" anchor="ctr"/>
          <a:lstStyle/>
          <a:p>
            <a:pPr algn="ctr" indent="0" marL="0">
              <a:buNone/>
            </a:pPr>
            <a:r>
              <a:rPr lang="en-US" sz="1200" b="1" dirty="0">
                <a:solidFill>
                  <a:schemeClr val="bg1"/>
                </a:solidFill>
              </a:rPr>
              <a:t>2 Audition</a:t>
            </a:r>
            <a:endParaRPr lang="en-US" sz="1200" dirty="0"/>
          </a:p>
        </p:txBody>
      </p:sp>
      <p:sp>
        <p:nvSpPr>
          <p:cNvPr id="15" name="line-158"/>
          <p:cNvSpPr/>
          <p:nvPr/>
        </p:nvSpPr>
        <p:spPr>
          <a:xfrm>
            <a:off x="3383280" y="2148840"/>
            <a:ext cx="548640" cy="548640"/>
          </a:xfrm>
          <a:prstGeom prst="line">
            <a:avLst/>
          </a:prstGeom>
          <a:noFill/>
          <a:ln w="19050">
            <a:solidFill>
              <a:schemeClr val="tx1"/>
            </a:solidFill>
            <a:prstDash val="solid"/>
            <a:tailEnd type="triangle"/>
          </a:ln>
        </p:spPr>
      </p:sp>
      <p:sp>
        <p:nvSpPr>
          <p:cNvPr id="16" name="text-159"/>
          <p:cNvSpPr txBox="1"/>
          <p:nvPr/>
        </p:nvSpPr>
        <p:spPr>
          <a:xfrm>
            <a:off x="3840480" y="2286000"/>
            <a:ext cx="548640" cy="201168"/>
          </a:xfrm>
          <a:prstGeom prst="rect">
            <a:avLst/>
          </a:prstGeom>
          <a:noFill/>
          <a:ln/>
        </p:spPr>
        <p:txBody>
          <a:bodyPr wrap="square" lIns="0" tIns="0" rIns="0" bIns="0" rtlCol="0" anchor="t"/>
          <a:lstStyle/>
          <a:p>
            <a:pPr algn="l" indent="0" marL="0">
              <a:buNone/>
            </a:pPr>
            <a:r>
              <a:rPr lang="en-US" sz="1000" dirty="0">
                <a:solidFill>
                  <a:schemeClr val="tx1"/>
                </a:solidFill>
              </a:rPr>
              <a:t>errors</a:t>
            </a:r>
            <a:endParaRPr lang="en-US" sz="1000" dirty="0"/>
          </a:p>
        </p:txBody>
      </p:sp>
      <p:sp>
        <p:nvSpPr>
          <p:cNvPr id="17" name="line-160"/>
          <p:cNvSpPr/>
          <p:nvPr/>
        </p:nvSpPr>
        <p:spPr>
          <a:xfrm>
            <a:off x="3474720" y="1600200"/>
            <a:ext cx="2011680" cy="0"/>
          </a:xfrm>
          <a:prstGeom prst="line">
            <a:avLst/>
          </a:prstGeom>
          <a:noFill/>
          <a:ln w="22225">
            <a:solidFill>
              <a:schemeClr val="accent4"/>
            </a:solidFill>
            <a:prstDash val="solid"/>
            <a:tailEnd type="triangle"/>
          </a:ln>
        </p:spPr>
      </p:sp>
      <p:sp>
        <p:nvSpPr>
          <p:cNvPr id="18" name="text-161"/>
          <p:cNvSpPr txBox="1"/>
          <p:nvPr/>
        </p:nvSpPr>
        <p:spPr>
          <a:xfrm>
            <a:off x="3520440" y="1325880"/>
            <a:ext cx="1920240" cy="228600"/>
          </a:xfrm>
          <a:prstGeom prst="rect">
            <a:avLst/>
          </a:prstGeom>
          <a:noFill/>
          <a:ln/>
        </p:spPr>
        <p:txBody>
          <a:bodyPr wrap="square" lIns="0" tIns="0" rIns="0" bIns="0" rtlCol="0" anchor="t"/>
          <a:lstStyle/>
          <a:p>
            <a:pPr algn="ctr" indent="0" marL="0">
              <a:buNone/>
            </a:pPr>
            <a:r>
              <a:rPr lang="en-US" sz="1000" b="1" dirty="0">
                <a:solidFill>
                  <a:schemeClr val="accent4"/>
                </a:solidFill>
              </a:rPr>
              <a:t>forecast hint (2–3 numbers)</a:t>
            </a:r>
            <a:endParaRPr lang="en-US" sz="1000" dirty="0"/>
          </a:p>
        </p:txBody>
      </p:sp>
      <p:sp>
        <p:nvSpPr>
          <p:cNvPr id="19" name="node-162"/>
          <p:cNvSpPr txBox="1"/>
          <p:nvPr/>
        </p:nvSpPr>
        <p:spPr>
          <a:xfrm>
            <a:off x="5486400" y="1325880"/>
            <a:ext cx="1371600" cy="548640"/>
          </a:xfrm>
          <a:prstGeom prst="rect">
            <a:avLst/>
          </a:prstGeom>
          <a:solidFill>
            <a:schemeClr val="bg2"/>
          </a:solidFill>
          <a:ln w="12700">
            <a:solidFill>
              <a:schemeClr val="accent6"/>
            </a:solidFill>
          </a:ln>
        </p:spPr>
        <p:txBody>
          <a:bodyPr wrap="square" lIns="635" tIns="635" rIns="635" bIns="635" rtlCol="0" anchor="ctr"/>
          <a:lstStyle/>
          <a:p>
            <a:pPr algn="ctr" indent="0" marL="0">
              <a:buNone/>
            </a:pPr>
            <a:r>
              <a:rPr lang="en-US" sz="1100" dirty="0">
                <a:solidFill>
                  <a:schemeClr val="tx1"/>
                </a:solidFill>
              </a:rPr>
              <a:t>Neighbour junction</a:t>
            </a:r>
            <a:endParaRPr lang="en-US" sz="1100" dirty="0"/>
          </a:p>
        </p:txBody>
      </p:sp>
      <p:sp>
        <p:nvSpPr>
          <p:cNvPr id="20" name="node-163"/>
          <p:cNvSpPr txBox="1"/>
          <p:nvPr/>
        </p:nvSpPr>
        <p:spPr>
          <a:xfrm>
            <a:off x="5760720" y="2697480"/>
            <a:ext cx="1280160" cy="914400"/>
          </a:xfrm>
          <a:prstGeom prst="ellipse">
            <a:avLst/>
          </a:prstGeom>
          <a:solidFill>
            <a:schemeClr val="tx2"/>
          </a:solidFill>
          <a:ln/>
        </p:spPr>
        <p:txBody>
          <a:bodyPr wrap="square" lIns="635" tIns="635" rIns="635" bIns="635" rtlCol="0" anchor="ctr"/>
          <a:lstStyle/>
          <a:p>
            <a:pPr algn="ctr" indent="0" marL="0">
              <a:buNone/>
            </a:pPr>
            <a:r>
              <a:rPr lang="en-US" sz="1100" b="1" dirty="0">
                <a:solidFill>
                  <a:schemeClr val="bg1"/>
                </a:solidFill>
              </a:rPr>
              <a:t>3 Server: pick + merge</a:t>
            </a:r>
            <a:endParaRPr lang="en-US" sz="1100" dirty="0"/>
          </a:p>
        </p:txBody>
      </p:sp>
      <p:sp>
        <p:nvSpPr>
          <p:cNvPr id="21" name="line-164"/>
          <p:cNvSpPr/>
          <p:nvPr/>
        </p:nvSpPr>
        <p:spPr>
          <a:xfrm>
            <a:off x="4800600" y="2971800"/>
            <a:ext cx="1005840" cy="0"/>
          </a:xfrm>
          <a:prstGeom prst="line">
            <a:avLst/>
          </a:prstGeom>
          <a:noFill/>
          <a:ln w="22225">
            <a:solidFill>
              <a:schemeClr val="tx1"/>
            </a:solidFill>
            <a:prstDash val="solid"/>
            <a:tailEnd type="triangle"/>
          </a:ln>
        </p:spPr>
      </p:sp>
      <p:sp>
        <p:nvSpPr>
          <p:cNvPr id="22" name="text-165"/>
          <p:cNvSpPr txBox="1"/>
          <p:nvPr/>
        </p:nvSpPr>
        <p:spPr>
          <a:xfrm>
            <a:off x="4937760" y="2715768"/>
            <a:ext cx="868680" cy="201168"/>
          </a:xfrm>
          <a:prstGeom prst="rect">
            <a:avLst/>
          </a:prstGeom>
          <a:noFill/>
          <a:ln/>
        </p:spPr>
        <p:txBody>
          <a:bodyPr wrap="square" lIns="0" tIns="0" rIns="0" bIns="0" rtlCol="0" anchor="t"/>
          <a:lstStyle/>
          <a:p>
            <a:pPr algn="ctr" indent="0" marL="0">
              <a:buNone/>
            </a:pPr>
            <a:r>
              <a:rPr lang="en-US" sz="1000" dirty="0">
                <a:solidFill>
                  <a:schemeClr val="tx1"/>
                </a:solidFill>
              </a:rPr>
              <a:t>offer, update</a:t>
            </a:r>
            <a:endParaRPr lang="en-US" sz="1000" dirty="0"/>
          </a:p>
        </p:txBody>
      </p:sp>
      <p:sp>
        <p:nvSpPr>
          <p:cNvPr id="23" name="line-166"/>
          <p:cNvSpPr/>
          <p:nvPr/>
        </p:nvSpPr>
        <p:spPr>
          <a:xfrm flipH="1">
            <a:off x="4800600" y="3337560"/>
            <a:ext cx="1005840" cy="0"/>
          </a:xfrm>
          <a:prstGeom prst="line">
            <a:avLst/>
          </a:prstGeom>
          <a:noFill/>
          <a:ln w="22225">
            <a:solidFill>
              <a:schemeClr val="accent3"/>
            </a:solidFill>
            <a:prstDash val="solid"/>
            <a:tailEnd type="triangle"/>
          </a:ln>
        </p:spPr>
      </p:sp>
      <p:sp>
        <p:nvSpPr>
          <p:cNvPr id="24" name="text-167"/>
          <p:cNvSpPr txBox="1"/>
          <p:nvPr/>
        </p:nvSpPr>
        <p:spPr>
          <a:xfrm>
            <a:off x="4937760" y="3383280"/>
            <a:ext cx="868680" cy="201168"/>
          </a:xfrm>
          <a:prstGeom prst="rect">
            <a:avLst/>
          </a:prstGeom>
          <a:noFill/>
          <a:ln/>
        </p:spPr>
        <p:txBody>
          <a:bodyPr wrap="square" lIns="0" tIns="0" rIns="0" bIns="0" rtlCol="0" anchor="t"/>
          <a:lstStyle/>
          <a:p>
            <a:pPr algn="ctr" indent="0" marL="0">
              <a:buNone/>
            </a:pPr>
            <a:r>
              <a:rPr lang="en-US" sz="1000" dirty="0">
                <a:solidFill>
                  <a:schemeClr val="accent3"/>
                </a:solidFill>
              </a:rPr>
              <a:t>admit, model</a:t>
            </a:r>
            <a:endParaRPr lang="en-US" sz="1000" dirty="0"/>
          </a:p>
        </p:txBody>
      </p:sp>
      <p:sp>
        <p:nvSpPr>
          <p:cNvPr id="25" name="node-168"/>
          <p:cNvSpPr txBox="1"/>
          <p:nvPr/>
        </p:nvSpPr>
        <p:spPr>
          <a:xfrm>
            <a:off x="7315200" y="2606040"/>
            <a:ext cx="1371600" cy="457200"/>
          </a:xfrm>
          <a:prstGeom prst="rect">
            <a:avLst/>
          </a:prstGeom>
          <a:solidFill>
            <a:schemeClr val="bg2"/>
          </a:solidFill>
          <a:ln w="12700">
            <a:solidFill>
              <a:schemeClr val="accent6"/>
            </a:solidFill>
          </a:ln>
        </p:spPr>
        <p:txBody>
          <a:bodyPr wrap="square" lIns="635" tIns="635" rIns="635" bIns="635" rtlCol="0" anchor="ctr"/>
          <a:lstStyle/>
          <a:p>
            <a:pPr algn="ctr" indent="0" marL="0">
              <a:buNone/>
            </a:pPr>
            <a:r>
              <a:rPr lang="en-US" sz="1100" dirty="0">
                <a:solidFill>
                  <a:schemeClr val="tx1"/>
                </a:solidFill>
              </a:rPr>
              <a:t>D2 Model versions</a:t>
            </a:r>
            <a:endParaRPr lang="en-US" sz="1100" dirty="0"/>
          </a:p>
        </p:txBody>
      </p:sp>
      <p:sp>
        <p:nvSpPr>
          <p:cNvPr id="26" name="node-169"/>
          <p:cNvSpPr txBox="1"/>
          <p:nvPr/>
        </p:nvSpPr>
        <p:spPr>
          <a:xfrm>
            <a:off x="7315200" y="3291840"/>
            <a:ext cx="1371600" cy="457200"/>
          </a:xfrm>
          <a:prstGeom prst="rect">
            <a:avLst/>
          </a:prstGeom>
          <a:solidFill>
            <a:schemeClr val="bg2"/>
          </a:solidFill>
          <a:ln w="12700">
            <a:solidFill>
              <a:schemeClr val="accent6"/>
            </a:solidFill>
          </a:ln>
        </p:spPr>
        <p:txBody>
          <a:bodyPr wrap="square" lIns="635" tIns="635" rIns="635" bIns="635" rtlCol="0" anchor="ctr"/>
          <a:lstStyle/>
          <a:p>
            <a:pPr algn="ctr" indent="0" marL="0">
              <a:buNone/>
            </a:pPr>
            <a:r>
              <a:rPr lang="en-US" sz="1100" dirty="0">
                <a:solidFill>
                  <a:schemeClr val="tx1"/>
                </a:solidFill>
              </a:rPr>
              <a:t>D3 Byte ledger</a:t>
            </a:r>
            <a:endParaRPr lang="en-US" sz="1100" dirty="0"/>
          </a:p>
        </p:txBody>
      </p:sp>
      <p:sp>
        <p:nvSpPr>
          <p:cNvPr id="27" name="line-170"/>
          <p:cNvSpPr/>
          <p:nvPr/>
        </p:nvSpPr>
        <p:spPr>
          <a:xfrm flipV="1">
            <a:off x="6995160" y="2834640"/>
            <a:ext cx="320040" cy="91440"/>
          </a:xfrm>
          <a:prstGeom prst="line">
            <a:avLst/>
          </a:prstGeom>
          <a:noFill/>
          <a:ln w="15875">
            <a:solidFill>
              <a:schemeClr val="tx1"/>
            </a:solidFill>
            <a:prstDash val="solid"/>
            <a:tailEnd type="triangle"/>
          </a:ln>
        </p:spPr>
      </p:sp>
      <p:sp>
        <p:nvSpPr>
          <p:cNvPr id="28" name="line-171"/>
          <p:cNvSpPr/>
          <p:nvPr/>
        </p:nvSpPr>
        <p:spPr>
          <a:xfrm>
            <a:off x="6995160" y="3383280"/>
            <a:ext cx="320040" cy="137160"/>
          </a:xfrm>
          <a:prstGeom prst="line">
            <a:avLst/>
          </a:prstGeom>
          <a:noFill/>
          <a:ln w="15875">
            <a:solidFill>
              <a:schemeClr val="tx1"/>
            </a:solidFill>
            <a:prstDash val="solid"/>
            <a:tailEnd type="triangle"/>
          </a:ln>
        </p:spPr>
      </p:sp>
      <p:sp>
        <p:nvSpPr>
          <p:cNvPr id="29" name="line-172"/>
          <p:cNvSpPr/>
          <p:nvPr/>
        </p:nvSpPr>
        <p:spPr>
          <a:xfrm>
            <a:off x="8001000" y="3749040"/>
            <a:ext cx="0" cy="274320"/>
          </a:xfrm>
          <a:prstGeom prst="line">
            <a:avLst/>
          </a:prstGeom>
          <a:noFill/>
          <a:ln w="15875">
            <a:solidFill>
              <a:schemeClr val="tx1"/>
            </a:solidFill>
            <a:prstDash val="solid"/>
            <a:tailEnd type="triangle"/>
          </a:ln>
        </p:spPr>
      </p:sp>
      <p:sp>
        <p:nvSpPr>
          <p:cNvPr id="30" name="node-173"/>
          <p:cNvSpPr txBox="1"/>
          <p:nvPr/>
        </p:nvSpPr>
        <p:spPr>
          <a:xfrm>
            <a:off x="7315200" y="4023360"/>
            <a:ext cx="1371600" cy="502920"/>
          </a:xfrm>
          <a:prstGeom prst="rect">
            <a:avLst/>
          </a:prstGeom>
          <a:solidFill>
            <a:schemeClr val="bg2"/>
          </a:solidFill>
          <a:ln w="12700">
            <a:solidFill>
              <a:schemeClr val="accent6"/>
            </a:solidFill>
          </a:ln>
        </p:spPr>
        <p:txBody>
          <a:bodyPr wrap="square" lIns="635" tIns="635" rIns="635" bIns="635" rtlCol="0" anchor="ctr"/>
          <a:lstStyle/>
          <a:p>
            <a:pPr algn="ctr" indent="0" marL="0">
              <a:buNone/>
            </a:pPr>
            <a:r>
              <a:rPr lang="en-US" sz="1100" dirty="0">
                <a:solidFill>
                  <a:schemeClr val="tx1"/>
                </a:solidFill>
              </a:rPr>
              <a:t>Dashboard: bytes, MAE</a:t>
            </a:r>
            <a:endParaRPr lang="en-US" sz="1100" dirty="0"/>
          </a:p>
        </p:txBody>
      </p:sp>
      <p:sp>
        <p:nvSpPr>
          <p:cNvPr id="31" name="node-174"/>
          <p:cNvSpPr txBox="1"/>
          <p:nvPr/>
        </p:nvSpPr>
        <p:spPr>
          <a:xfrm>
            <a:off x="7086600" y="1097280"/>
            <a:ext cx="1600200" cy="1234440"/>
          </a:xfrm>
          <a:prstGeom prst="roundRect">
            <a:avLst>
              <a:gd name="adj" fmla="val 5926"/>
            </a:avLst>
          </a:prstGeom>
          <a:solidFill>
            <a:schemeClr val="bg2"/>
          </a:solidFill>
          <a:ln/>
        </p:spPr>
        <p:txBody>
          <a:bodyPr wrap="square" lIns="635" tIns="635" rIns="635" bIns="635" rtlCol="0" anchor="ctr"/>
          <a:lstStyle/>
          <a:p>
            <a:pPr algn="ctr" indent="0" marL="0">
              <a:buNone/>
            </a:pPr>
            <a:endParaRPr lang="en-US" sz="1200" dirty="0"/>
          </a:p>
        </p:txBody>
      </p:sp>
      <p:sp>
        <p:nvSpPr>
          <p:cNvPr id="32" name="text-175"/>
          <p:cNvSpPr txBox="1"/>
          <p:nvPr/>
        </p:nvSpPr>
        <p:spPr>
          <a:xfrm>
            <a:off x="7178040" y="1161288"/>
            <a:ext cx="1463040" cy="1143000"/>
          </a:xfrm>
          <a:prstGeom prst="rect">
            <a:avLst/>
          </a:prstGeom>
          <a:noFill/>
          <a:ln/>
        </p:spPr>
        <p:txBody>
          <a:bodyPr wrap="square" lIns="0" tIns="0" rIns="0" bIns="0" rtlCol="0" anchor="t"/>
          <a:lstStyle/>
          <a:p>
            <a:pPr algn="l" indent="0" marL="0">
              <a:spcAft>
                <a:spcPts val="200"/>
              </a:spcAft>
              <a:buNone/>
            </a:pPr>
            <a:r>
              <a:rPr lang="en-US" sz="1000" b="1" dirty="0">
                <a:solidFill>
                  <a:schemeClr val="tx1"/>
                </a:solidFill>
              </a:rPr>
              <a:t>Legend</a:t>
            </a:r>
            <a:endParaRPr lang="en-US" sz="1000" dirty="0"/>
          </a:p>
          <a:p>
            <a:pPr algn="l" indent="0" marL="0">
              <a:spcAft>
                <a:spcPts val="200"/>
              </a:spcAft>
              <a:buNone/>
            </a:pPr>
            <a:r>
              <a:rPr lang="en-US" sz="1000" dirty="0">
                <a:solidFill>
                  <a:schemeClr val="tx1"/>
                </a:solidFill>
              </a:rPr>
              <a:t>Circle = process</a:t>
            </a:r>
            <a:endParaRPr lang="en-US" sz="1000" dirty="0"/>
          </a:p>
          <a:p>
            <a:pPr algn="l" indent="0" marL="0">
              <a:spcAft>
                <a:spcPts val="200"/>
              </a:spcAft>
              <a:buNone/>
            </a:pPr>
            <a:r>
              <a:rPr lang="en-US" sz="1000" dirty="0">
                <a:solidFill>
                  <a:schemeClr val="tx1"/>
                </a:solidFill>
              </a:rPr>
              <a:t>Box = store or outside party</a:t>
            </a:r>
            <a:endParaRPr lang="en-US" sz="1000" dirty="0"/>
          </a:p>
          <a:p>
            <a:pPr algn="l" indent="0" marL="0">
              <a:spcAft>
                <a:spcPts val="200"/>
              </a:spcAft>
              <a:buNone/>
            </a:pPr>
            <a:r>
              <a:rPr lang="en-US" sz="1000" dirty="0">
                <a:solidFill>
                  <a:schemeClr val="tx1"/>
                </a:solidFill>
              </a:rPr>
              <a:t>Dashed line = privacy border</a:t>
            </a:r>
            <a:endParaRPr lang="en-US" sz="1000" dirty="0"/>
          </a:p>
        </p:txBody>
      </p:sp>
      <p:sp>
        <p:nvSpPr>
          <p:cNvPr id="25" name="Slide Number Placeholder 0"/>
          <p:cNvSpPr>
            <a:spLocks noGrp="1"/>
          </p:cNvSpPr>
          <p:nvPr>
            <p:ph type="sldNum" sz="quarter" idx="4294967295"/>
          </p:nvPr>
        </p:nvSpPr>
        <p:spPr>
          <a:xfrm>
            <a:off x="7845552" y="4828032"/>
            <a:ext cx="658368"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header-label"/>
          <p:cNvSpPr txBox="1"/>
          <p:nvPr/>
        </p:nvSpPr>
        <p:spPr>
          <a:xfrm>
            <a:off x="2286000" y="91440"/>
            <a:ext cx="4572000" cy="228600"/>
          </a:xfrm>
          <a:prstGeom prst="rect">
            <a:avLst/>
          </a:prstGeom>
          <a:noFill/>
          <a:ln/>
        </p:spPr>
        <p:txBody>
          <a:bodyPr wrap="square" lIns="0" tIns="0" rIns="0" bIns="0" rtlCol="0" anchor="ctr"/>
          <a:lstStyle/>
          <a:p>
            <a:pPr algn="ctr" indent="0" marL="0">
              <a:buNone/>
            </a:pPr>
            <a:r>
              <a:rPr lang="en-US" sz="1000" b="1" dirty="0">
                <a:solidFill>
                  <a:schemeClr val="accent1"/>
                </a:solidFill>
              </a:rPr>
              <a:t>AIORI 3</a:t>
            </a:r>
            <a:pPr algn="ctr" indent="0" marL="0">
              <a:buNone/>
            </a:pPr>
            <a:r>
              <a:rPr lang="en-US" sz="1000" dirty="0">
                <a:solidFill>
                  <a:schemeClr val="accent1"/>
                </a:solidFill>
              </a:rPr>
              <a:t>     Deployment Timeline</a:t>
            </a:r>
            <a:endParaRPr lang="en-US" sz="1000" dirty="0"/>
          </a:p>
        </p:txBody>
      </p:sp>
      <p:sp>
        <p:nvSpPr>
          <p:cNvPr id="3" name="Text 2"/>
          <p:cNvSpPr/>
          <p:nvPr>
            <p:ph idx="102" type="title" hasCustomPrompt="1"/>
          </p:nvPr>
        </p:nvSpPr>
        <p:spPr>
          <a:xfrm>
            <a:off x="457200" y="347472"/>
            <a:ext cx="8229600" cy="566928"/>
          </a:xfrm>
          <a:prstGeom prst="rect">
            <a:avLst/>
          </a:prstGeom>
          <a:noFill/>
          <a:ln/>
        </p:spPr>
        <p:txBody>
          <a:bodyPr wrap="square" lIns="0" tIns="0" rIns="0" bIns="0" rtlCol="0" anchor="ctr"/>
          <a:lstStyle/>
          <a:p>
            <a:pPr algn="l" indent="0" marL="0">
              <a:buNone/>
            </a:pPr>
            <a:r>
              <a:rPr lang="en-US" sz="3200" b="1" dirty="0">
                <a:solidFill>
                  <a:schemeClr val="accent1"/>
                </a:solidFill>
              </a:rPr>
              <a:t>Deployment Timeline</a:t>
            </a:r>
            <a:endParaRPr lang="en-US" sz="3200" dirty="0"/>
          </a:p>
        </p:txBody>
      </p:sp>
      <p:sp>
        <p:nvSpPr>
          <p:cNvPr id="5" name="text-176"/>
          <p:cNvSpPr txBox="1"/>
          <p:nvPr/>
        </p:nvSpPr>
        <p:spPr>
          <a:xfrm>
            <a:off x="457200" y="960120"/>
            <a:ext cx="2743200" cy="256032"/>
          </a:xfrm>
          <a:prstGeom prst="rect">
            <a:avLst/>
          </a:prstGeom>
          <a:noFill/>
          <a:ln/>
        </p:spPr>
        <p:txBody>
          <a:bodyPr wrap="square" lIns="0" tIns="0" rIns="0" bIns="0" rtlCol="0" anchor="t"/>
          <a:lstStyle/>
          <a:p>
            <a:pPr algn="l" indent="0" marL="0">
              <a:buNone/>
            </a:pPr>
            <a:r>
              <a:rPr lang="en-US" sz="1300" b="1" dirty="0">
                <a:solidFill>
                  <a:schemeClr val="tx2"/>
                </a:solidFill>
              </a:rPr>
              <a:t>Suggested 48-hour plan</a:t>
            </a:r>
            <a:endParaRPr lang="en-US" sz="1300" dirty="0"/>
          </a:p>
        </p:txBody>
      </p:sp>
      <p:sp>
        <p:nvSpPr>
          <p:cNvPr id="6" name="text-177"/>
          <p:cNvSpPr txBox="1"/>
          <p:nvPr/>
        </p:nvSpPr>
        <p:spPr>
          <a:xfrm>
            <a:off x="2148840" y="1216152"/>
            <a:ext cx="457200" cy="182880"/>
          </a:xfrm>
          <a:prstGeom prst="rect">
            <a:avLst/>
          </a:prstGeom>
          <a:noFill/>
          <a:ln/>
        </p:spPr>
        <p:txBody>
          <a:bodyPr wrap="square" lIns="0" tIns="0" rIns="0" bIns="0" rtlCol="0" anchor="t"/>
          <a:lstStyle/>
          <a:p>
            <a:pPr algn="ctr" indent="0" marL="0">
              <a:buNone/>
            </a:pPr>
            <a:r>
              <a:rPr lang="en-US" sz="1000" dirty="0">
                <a:solidFill>
                  <a:schemeClr val="accent6"/>
                </a:solidFill>
              </a:rPr>
              <a:t>0h</a:t>
            </a:r>
            <a:endParaRPr lang="en-US" sz="1000" dirty="0"/>
          </a:p>
        </p:txBody>
      </p:sp>
      <p:sp>
        <p:nvSpPr>
          <p:cNvPr id="7" name="line-178"/>
          <p:cNvSpPr/>
          <p:nvPr/>
        </p:nvSpPr>
        <p:spPr>
          <a:xfrm>
            <a:off x="2377440" y="1417320"/>
            <a:ext cx="0" cy="2651760"/>
          </a:xfrm>
          <a:prstGeom prst="line">
            <a:avLst/>
          </a:prstGeom>
          <a:noFill/>
          <a:ln w="6350">
            <a:solidFill>
              <a:srgbClr val="D5D9F0"/>
            </a:solidFill>
            <a:prstDash val="solid"/>
          </a:ln>
        </p:spPr>
      </p:sp>
      <p:sp>
        <p:nvSpPr>
          <p:cNvPr id="8" name="text-179"/>
          <p:cNvSpPr txBox="1"/>
          <p:nvPr/>
        </p:nvSpPr>
        <p:spPr>
          <a:xfrm>
            <a:off x="2926080" y="1216152"/>
            <a:ext cx="457200" cy="182880"/>
          </a:xfrm>
          <a:prstGeom prst="rect">
            <a:avLst/>
          </a:prstGeom>
          <a:noFill/>
          <a:ln/>
        </p:spPr>
        <p:txBody>
          <a:bodyPr wrap="square" lIns="0" tIns="0" rIns="0" bIns="0" rtlCol="0" anchor="t"/>
          <a:lstStyle/>
          <a:p>
            <a:pPr algn="ctr" indent="0" marL="0">
              <a:buNone/>
            </a:pPr>
            <a:r>
              <a:rPr lang="en-US" sz="1000" dirty="0">
                <a:solidFill>
                  <a:schemeClr val="accent6"/>
                </a:solidFill>
              </a:rPr>
              <a:t>12h</a:t>
            </a:r>
            <a:endParaRPr lang="en-US" sz="1000" dirty="0"/>
          </a:p>
        </p:txBody>
      </p:sp>
      <p:sp>
        <p:nvSpPr>
          <p:cNvPr id="9" name="line-180"/>
          <p:cNvSpPr/>
          <p:nvPr/>
        </p:nvSpPr>
        <p:spPr>
          <a:xfrm>
            <a:off x="3154680" y="1417320"/>
            <a:ext cx="0" cy="2651760"/>
          </a:xfrm>
          <a:prstGeom prst="line">
            <a:avLst/>
          </a:prstGeom>
          <a:noFill/>
          <a:ln w="6350">
            <a:solidFill>
              <a:srgbClr val="D5D9F0"/>
            </a:solidFill>
            <a:prstDash val="solid"/>
          </a:ln>
        </p:spPr>
      </p:sp>
      <p:sp>
        <p:nvSpPr>
          <p:cNvPr id="10" name="text-181"/>
          <p:cNvSpPr txBox="1"/>
          <p:nvPr/>
        </p:nvSpPr>
        <p:spPr>
          <a:xfrm>
            <a:off x="3703320" y="1216152"/>
            <a:ext cx="457200" cy="182880"/>
          </a:xfrm>
          <a:prstGeom prst="rect">
            <a:avLst/>
          </a:prstGeom>
          <a:noFill/>
          <a:ln/>
        </p:spPr>
        <p:txBody>
          <a:bodyPr wrap="square" lIns="0" tIns="0" rIns="0" bIns="0" rtlCol="0" anchor="t"/>
          <a:lstStyle/>
          <a:p>
            <a:pPr algn="ctr" indent="0" marL="0">
              <a:buNone/>
            </a:pPr>
            <a:r>
              <a:rPr lang="en-US" sz="1000" dirty="0">
                <a:solidFill>
                  <a:schemeClr val="accent6"/>
                </a:solidFill>
              </a:rPr>
              <a:t>24h</a:t>
            </a:r>
            <a:endParaRPr lang="en-US" sz="1000" dirty="0"/>
          </a:p>
        </p:txBody>
      </p:sp>
      <p:sp>
        <p:nvSpPr>
          <p:cNvPr id="11" name="line-182"/>
          <p:cNvSpPr/>
          <p:nvPr/>
        </p:nvSpPr>
        <p:spPr>
          <a:xfrm>
            <a:off x="3931920" y="1417320"/>
            <a:ext cx="0" cy="2651760"/>
          </a:xfrm>
          <a:prstGeom prst="line">
            <a:avLst/>
          </a:prstGeom>
          <a:noFill/>
          <a:ln w="6350">
            <a:solidFill>
              <a:srgbClr val="D5D9F0"/>
            </a:solidFill>
            <a:prstDash val="solid"/>
          </a:ln>
        </p:spPr>
      </p:sp>
      <p:sp>
        <p:nvSpPr>
          <p:cNvPr id="12" name="text-183"/>
          <p:cNvSpPr txBox="1"/>
          <p:nvPr/>
        </p:nvSpPr>
        <p:spPr>
          <a:xfrm>
            <a:off x="4480560" y="1216152"/>
            <a:ext cx="457200" cy="182880"/>
          </a:xfrm>
          <a:prstGeom prst="rect">
            <a:avLst/>
          </a:prstGeom>
          <a:noFill/>
          <a:ln/>
        </p:spPr>
        <p:txBody>
          <a:bodyPr wrap="square" lIns="0" tIns="0" rIns="0" bIns="0" rtlCol="0" anchor="t"/>
          <a:lstStyle/>
          <a:p>
            <a:pPr algn="ctr" indent="0" marL="0">
              <a:buNone/>
            </a:pPr>
            <a:r>
              <a:rPr lang="en-US" sz="1000" dirty="0">
                <a:solidFill>
                  <a:schemeClr val="accent6"/>
                </a:solidFill>
              </a:rPr>
              <a:t>36h</a:t>
            </a:r>
            <a:endParaRPr lang="en-US" sz="1000" dirty="0"/>
          </a:p>
        </p:txBody>
      </p:sp>
      <p:sp>
        <p:nvSpPr>
          <p:cNvPr id="13" name="line-184"/>
          <p:cNvSpPr/>
          <p:nvPr/>
        </p:nvSpPr>
        <p:spPr>
          <a:xfrm>
            <a:off x="4709160" y="1417320"/>
            <a:ext cx="0" cy="2651760"/>
          </a:xfrm>
          <a:prstGeom prst="line">
            <a:avLst/>
          </a:prstGeom>
          <a:noFill/>
          <a:ln w="6350">
            <a:solidFill>
              <a:srgbClr val="D5D9F0"/>
            </a:solidFill>
            <a:prstDash val="solid"/>
          </a:ln>
        </p:spPr>
      </p:sp>
      <p:sp>
        <p:nvSpPr>
          <p:cNvPr id="14" name="text-185"/>
          <p:cNvSpPr txBox="1"/>
          <p:nvPr/>
        </p:nvSpPr>
        <p:spPr>
          <a:xfrm>
            <a:off x="5257800" y="1216152"/>
            <a:ext cx="457200" cy="182880"/>
          </a:xfrm>
          <a:prstGeom prst="rect">
            <a:avLst/>
          </a:prstGeom>
          <a:noFill/>
          <a:ln/>
        </p:spPr>
        <p:txBody>
          <a:bodyPr wrap="square" lIns="0" tIns="0" rIns="0" bIns="0" rtlCol="0" anchor="t"/>
          <a:lstStyle/>
          <a:p>
            <a:pPr algn="ctr" indent="0" marL="0">
              <a:buNone/>
            </a:pPr>
            <a:r>
              <a:rPr lang="en-US" sz="1000" dirty="0">
                <a:solidFill>
                  <a:schemeClr val="accent6"/>
                </a:solidFill>
              </a:rPr>
              <a:t>48h</a:t>
            </a:r>
            <a:endParaRPr lang="en-US" sz="1000" dirty="0"/>
          </a:p>
        </p:txBody>
      </p:sp>
      <p:sp>
        <p:nvSpPr>
          <p:cNvPr id="15" name="line-186"/>
          <p:cNvSpPr/>
          <p:nvPr/>
        </p:nvSpPr>
        <p:spPr>
          <a:xfrm>
            <a:off x="5486400" y="1417320"/>
            <a:ext cx="0" cy="2651760"/>
          </a:xfrm>
          <a:prstGeom prst="line">
            <a:avLst/>
          </a:prstGeom>
          <a:noFill/>
          <a:ln w="6350">
            <a:solidFill>
              <a:srgbClr val="D5D9F0"/>
            </a:solidFill>
            <a:prstDash val="solid"/>
          </a:ln>
        </p:spPr>
      </p:sp>
      <p:sp>
        <p:nvSpPr>
          <p:cNvPr id="16" name="text-187"/>
          <p:cNvSpPr txBox="1"/>
          <p:nvPr/>
        </p:nvSpPr>
        <p:spPr>
          <a:xfrm>
            <a:off x="457200" y="1444752"/>
            <a:ext cx="1874520" cy="274320"/>
          </a:xfrm>
          <a:prstGeom prst="rect">
            <a:avLst/>
          </a:prstGeom>
          <a:noFill/>
          <a:ln/>
        </p:spPr>
        <p:txBody>
          <a:bodyPr wrap="square" lIns="0" tIns="0" rIns="0" bIns="0" rtlCol="0" anchor="ctr"/>
          <a:lstStyle/>
          <a:p>
            <a:pPr algn="l" indent="0" marL="0">
              <a:buNone/>
            </a:pPr>
            <a:r>
              <a:rPr lang="en-US" sz="1100" dirty="0">
                <a:solidFill>
                  <a:schemeClr val="tx1"/>
                </a:solidFill>
              </a:rPr>
              <a:t>1 Local predictor</a:t>
            </a:r>
            <a:endParaRPr lang="en-US" sz="1100" dirty="0"/>
          </a:p>
        </p:txBody>
      </p:sp>
      <p:sp>
        <p:nvSpPr>
          <p:cNvPr id="17" name="node-188"/>
          <p:cNvSpPr txBox="1"/>
          <p:nvPr/>
        </p:nvSpPr>
        <p:spPr>
          <a:xfrm>
            <a:off x="2377440" y="1472184"/>
            <a:ext cx="518160" cy="219456"/>
          </a:xfrm>
          <a:prstGeom prst="roundRect">
            <a:avLst>
              <a:gd name="adj" fmla="val 20833"/>
            </a:avLst>
          </a:prstGeom>
          <a:solidFill>
            <a:schemeClr val="accent1"/>
          </a:solidFill>
          <a:ln/>
        </p:spPr>
        <p:txBody>
          <a:bodyPr wrap="square" lIns="635" tIns="635" rIns="635" bIns="635" rtlCol="0" anchor="ctr"/>
          <a:lstStyle/>
          <a:p>
            <a:pPr algn="ctr" indent="0" marL="0">
              <a:buNone/>
            </a:pPr>
            <a:endParaRPr lang="en-US" sz="1200" dirty="0"/>
          </a:p>
        </p:txBody>
      </p:sp>
      <p:sp>
        <p:nvSpPr>
          <p:cNvPr id="18" name="text-189"/>
          <p:cNvSpPr txBox="1"/>
          <p:nvPr/>
        </p:nvSpPr>
        <p:spPr>
          <a:xfrm>
            <a:off x="457200" y="1773936"/>
            <a:ext cx="1874520" cy="274320"/>
          </a:xfrm>
          <a:prstGeom prst="rect">
            <a:avLst/>
          </a:prstGeom>
          <a:noFill/>
          <a:ln/>
        </p:spPr>
        <p:txBody>
          <a:bodyPr wrap="square" lIns="0" tIns="0" rIns="0" bIns="0" rtlCol="0" anchor="ctr"/>
          <a:lstStyle/>
          <a:p>
            <a:pPr algn="l" indent="0" marL="0">
              <a:buNone/>
            </a:pPr>
            <a:r>
              <a:rPr lang="en-US" sz="1100" dirty="0">
                <a:solidFill>
                  <a:schemeClr val="tx1"/>
                </a:solidFill>
              </a:rPr>
              <a:t>2 FedAvg + ledger</a:t>
            </a:r>
            <a:endParaRPr lang="en-US" sz="1100" dirty="0"/>
          </a:p>
        </p:txBody>
      </p:sp>
      <p:sp>
        <p:nvSpPr>
          <p:cNvPr id="19" name="node-190"/>
          <p:cNvSpPr txBox="1"/>
          <p:nvPr/>
        </p:nvSpPr>
        <p:spPr>
          <a:xfrm>
            <a:off x="2766060" y="1801368"/>
            <a:ext cx="647700" cy="219456"/>
          </a:xfrm>
          <a:prstGeom prst="roundRect">
            <a:avLst>
              <a:gd name="adj" fmla="val 20833"/>
            </a:avLst>
          </a:prstGeom>
          <a:solidFill>
            <a:schemeClr val="accent1"/>
          </a:solidFill>
          <a:ln/>
        </p:spPr>
        <p:txBody>
          <a:bodyPr wrap="square" lIns="635" tIns="635" rIns="635" bIns="635" rtlCol="0" anchor="ctr"/>
          <a:lstStyle/>
          <a:p>
            <a:pPr algn="ctr" indent="0" marL="0">
              <a:buNone/>
            </a:pPr>
            <a:endParaRPr lang="en-US" sz="1200" dirty="0"/>
          </a:p>
        </p:txBody>
      </p:sp>
      <p:sp>
        <p:nvSpPr>
          <p:cNvPr id="20" name="text-191"/>
          <p:cNvSpPr txBox="1"/>
          <p:nvPr/>
        </p:nvSpPr>
        <p:spPr>
          <a:xfrm>
            <a:off x="457200" y="2103120"/>
            <a:ext cx="1874520" cy="274320"/>
          </a:xfrm>
          <a:prstGeom prst="rect">
            <a:avLst/>
          </a:prstGeom>
          <a:noFill/>
          <a:ln/>
        </p:spPr>
        <p:txBody>
          <a:bodyPr wrap="square" lIns="0" tIns="0" rIns="0" bIns="0" rtlCol="0" anchor="ctr"/>
          <a:lstStyle/>
          <a:p>
            <a:pPr algn="l" indent="0" marL="0">
              <a:buNone/>
            </a:pPr>
            <a:r>
              <a:rPr lang="en-US" sz="1100" dirty="0">
                <a:solidFill>
                  <a:schemeClr val="tx1"/>
                </a:solidFill>
              </a:rPr>
              <a:t>3 Compression</a:t>
            </a:r>
            <a:endParaRPr lang="en-US" sz="1100" dirty="0"/>
          </a:p>
        </p:txBody>
      </p:sp>
      <p:sp>
        <p:nvSpPr>
          <p:cNvPr id="21" name="node-192"/>
          <p:cNvSpPr txBox="1"/>
          <p:nvPr/>
        </p:nvSpPr>
        <p:spPr>
          <a:xfrm>
            <a:off x="3284220" y="2130552"/>
            <a:ext cx="518160" cy="219456"/>
          </a:xfrm>
          <a:prstGeom prst="roundRect">
            <a:avLst>
              <a:gd name="adj" fmla="val 20833"/>
            </a:avLst>
          </a:prstGeom>
          <a:solidFill>
            <a:schemeClr val="accent1"/>
          </a:solidFill>
          <a:ln/>
        </p:spPr>
        <p:txBody>
          <a:bodyPr wrap="square" lIns="635" tIns="635" rIns="635" bIns="635" rtlCol="0" anchor="ctr"/>
          <a:lstStyle/>
          <a:p>
            <a:pPr algn="ctr" indent="0" marL="0">
              <a:buNone/>
            </a:pPr>
            <a:endParaRPr lang="en-US" sz="1200" dirty="0"/>
          </a:p>
        </p:txBody>
      </p:sp>
      <p:sp>
        <p:nvSpPr>
          <p:cNvPr id="22" name="text-193"/>
          <p:cNvSpPr txBox="1"/>
          <p:nvPr/>
        </p:nvSpPr>
        <p:spPr>
          <a:xfrm>
            <a:off x="457200" y="2432304"/>
            <a:ext cx="1874520" cy="274320"/>
          </a:xfrm>
          <a:prstGeom prst="rect">
            <a:avLst/>
          </a:prstGeom>
          <a:noFill/>
          <a:ln/>
        </p:spPr>
        <p:txBody>
          <a:bodyPr wrap="square" lIns="0" tIns="0" rIns="0" bIns="0" rtlCol="0" anchor="ctr"/>
          <a:lstStyle/>
          <a:p>
            <a:pPr algn="l" indent="0" marL="0">
              <a:buNone/>
            </a:pPr>
            <a:r>
              <a:rPr lang="en-US" sz="1100" dirty="0">
                <a:solidFill>
                  <a:schemeClr val="tx1"/>
                </a:solidFill>
              </a:rPr>
              <a:t>4 Surprise trigger</a:t>
            </a:r>
            <a:endParaRPr lang="en-US" sz="1100" dirty="0"/>
          </a:p>
        </p:txBody>
      </p:sp>
      <p:sp>
        <p:nvSpPr>
          <p:cNvPr id="23" name="node-194"/>
          <p:cNvSpPr txBox="1"/>
          <p:nvPr/>
        </p:nvSpPr>
        <p:spPr>
          <a:xfrm>
            <a:off x="3672840" y="2459736"/>
            <a:ext cx="518160" cy="219456"/>
          </a:xfrm>
          <a:prstGeom prst="roundRect">
            <a:avLst>
              <a:gd name="adj" fmla="val 20833"/>
            </a:avLst>
          </a:prstGeom>
          <a:solidFill>
            <a:schemeClr val="accent1"/>
          </a:solidFill>
          <a:ln/>
        </p:spPr>
        <p:txBody>
          <a:bodyPr wrap="square" lIns="635" tIns="635" rIns="635" bIns="635" rtlCol="0" anchor="ctr"/>
          <a:lstStyle/>
          <a:p>
            <a:pPr algn="ctr" indent="0" marL="0">
              <a:buNone/>
            </a:pPr>
            <a:endParaRPr lang="en-US" sz="1200" dirty="0"/>
          </a:p>
        </p:txBody>
      </p:sp>
      <p:sp>
        <p:nvSpPr>
          <p:cNvPr id="24" name="text-195"/>
          <p:cNvSpPr txBox="1"/>
          <p:nvPr/>
        </p:nvSpPr>
        <p:spPr>
          <a:xfrm>
            <a:off x="457200" y="2761488"/>
            <a:ext cx="1874520" cy="274320"/>
          </a:xfrm>
          <a:prstGeom prst="rect">
            <a:avLst/>
          </a:prstGeom>
          <a:noFill/>
          <a:ln/>
        </p:spPr>
        <p:txBody>
          <a:bodyPr wrap="square" lIns="0" tIns="0" rIns="0" bIns="0" rtlCol="0" anchor="ctr"/>
          <a:lstStyle/>
          <a:p>
            <a:pPr algn="l" indent="0" marL="0">
              <a:buNone/>
            </a:pPr>
            <a:r>
              <a:rPr lang="en-US" sz="1100" dirty="0">
                <a:solidFill>
                  <a:schemeClr val="tx1"/>
                </a:solidFill>
              </a:rPr>
              <a:t>5 Audition + budget</a:t>
            </a:r>
            <a:endParaRPr lang="en-US" sz="1100" dirty="0"/>
          </a:p>
        </p:txBody>
      </p:sp>
      <p:sp>
        <p:nvSpPr>
          <p:cNvPr id="25" name="node-196"/>
          <p:cNvSpPr txBox="1"/>
          <p:nvPr/>
        </p:nvSpPr>
        <p:spPr>
          <a:xfrm>
            <a:off x="4061460" y="2788920"/>
            <a:ext cx="777240" cy="219456"/>
          </a:xfrm>
          <a:prstGeom prst="roundRect">
            <a:avLst>
              <a:gd name="adj" fmla="val 20833"/>
            </a:avLst>
          </a:prstGeom>
          <a:solidFill>
            <a:schemeClr val="accent1"/>
          </a:solidFill>
          <a:ln/>
        </p:spPr>
        <p:txBody>
          <a:bodyPr wrap="square" lIns="635" tIns="635" rIns="635" bIns="635" rtlCol="0" anchor="ctr"/>
          <a:lstStyle/>
          <a:p>
            <a:pPr algn="ctr" indent="0" marL="0">
              <a:buNone/>
            </a:pPr>
            <a:endParaRPr lang="en-US" sz="1200" dirty="0"/>
          </a:p>
        </p:txBody>
      </p:sp>
      <p:sp>
        <p:nvSpPr>
          <p:cNvPr id="26" name="text-197"/>
          <p:cNvSpPr txBox="1"/>
          <p:nvPr/>
        </p:nvSpPr>
        <p:spPr>
          <a:xfrm>
            <a:off x="457200" y="3090672"/>
            <a:ext cx="1874520" cy="274320"/>
          </a:xfrm>
          <a:prstGeom prst="rect">
            <a:avLst/>
          </a:prstGeom>
          <a:noFill/>
          <a:ln/>
        </p:spPr>
        <p:txBody>
          <a:bodyPr wrap="square" lIns="0" tIns="0" rIns="0" bIns="0" rtlCol="0" anchor="ctr"/>
          <a:lstStyle/>
          <a:p>
            <a:pPr algn="l" indent="0" marL="0">
              <a:buNone/>
            </a:pPr>
            <a:r>
              <a:rPr lang="en-US" sz="1100" dirty="0">
                <a:solidFill>
                  <a:schemeClr val="tx1"/>
                </a:solidFill>
              </a:rPr>
              <a:t>6 Neighbour hints</a:t>
            </a:r>
            <a:endParaRPr lang="en-US" sz="1100" dirty="0"/>
          </a:p>
        </p:txBody>
      </p:sp>
      <p:sp>
        <p:nvSpPr>
          <p:cNvPr id="27" name="node-198"/>
          <p:cNvSpPr txBox="1"/>
          <p:nvPr/>
        </p:nvSpPr>
        <p:spPr>
          <a:xfrm>
            <a:off x="4579620" y="3118104"/>
            <a:ext cx="518160" cy="219456"/>
          </a:xfrm>
          <a:prstGeom prst="roundRect">
            <a:avLst>
              <a:gd name="adj" fmla="val 20833"/>
            </a:avLst>
          </a:prstGeom>
          <a:solidFill>
            <a:schemeClr val="accent4"/>
          </a:solidFill>
          <a:ln/>
        </p:spPr>
        <p:txBody>
          <a:bodyPr wrap="square" lIns="635" tIns="635" rIns="635" bIns="635" rtlCol="0" anchor="ctr"/>
          <a:lstStyle/>
          <a:p>
            <a:pPr algn="ctr" indent="0" marL="0">
              <a:buNone/>
            </a:pPr>
            <a:endParaRPr lang="en-US" sz="1200" dirty="0"/>
          </a:p>
        </p:txBody>
      </p:sp>
      <p:sp>
        <p:nvSpPr>
          <p:cNvPr id="28" name="text-199"/>
          <p:cNvSpPr txBox="1"/>
          <p:nvPr/>
        </p:nvSpPr>
        <p:spPr>
          <a:xfrm>
            <a:off x="457200" y="3419856"/>
            <a:ext cx="1874520" cy="274320"/>
          </a:xfrm>
          <a:prstGeom prst="rect">
            <a:avLst/>
          </a:prstGeom>
          <a:noFill/>
          <a:ln/>
        </p:spPr>
        <p:txBody>
          <a:bodyPr wrap="square" lIns="0" tIns="0" rIns="0" bIns="0" rtlCol="0" anchor="ctr"/>
          <a:lstStyle/>
          <a:p>
            <a:pPr algn="l" indent="0" marL="0">
              <a:buNone/>
            </a:pPr>
            <a:r>
              <a:rPr lang="en-US" sz="1100" dirty="0">
                <a:solidFill>
                  <a:schemeClr val="tx1"/>
                </a:solidFill>
              </a:rPr>
              <a:t>7 Dashboard + runs</a:t>
            </a:r>
            <a:endParaRPr lang="en-US" sz="1100" dirty="0"/>
          </a:p>
        </p:txBody>
      </p:sp>
      <p:sp>
        <p:nvSpPr>
          <p:cNvPr id="29" name="node-200"/>
          <p:cNvSpPr txBox="1"/>
          <p:nvPr/>
        </p:nvSpPr>
        <p:spPr>
          <a:xfrm>
            <a:off x="4838700" y="3447288"/>
            <a:ext cx="647700" cy="219456"/>
          </a:xfrm>
          <a:prstGeom prst="roundRect">
            <a:avLst>
              <a:gd name="adj" fmla="val 20833"/>
            </a:avLst>
          </a:prstGeom>
          <a:solidFill>
            <a:schemeClr val="accent4"/>
          </a:solidFill>
          <a:ln/>
        </p:spPr>
        <p:txBody>
          <a:bodyPr wrap="square" lIns="635" tIns="635" rIns="635" bIns="635" rtlCol="0" anchor="ctr"/>
          <a:lstStyle/>
          <a:p>
            <a:pPr algn="ctr" indent="0" marL="0">
              <a:buNone/>
            </a:pPr>
            <a:endParaRPr lang="en-US" sz="1200" dirty="0"/>
          </a:p>
        </p:txBody>
      </p:sp>
      <p:sp>
        <p:nvSpPr>
          <p:cNvPr id="30" name="text-201"/>
          <p:cNvSpPr txBox="1"/>
          <p:nvPr/>
        </p:nvSpPr>
        <p:spPr>
          <a:xfrm>
            <a:off x="457200" y="3749040"/>
            <a:ext cx="1874520" cy="274320"/>
          </a:xfrm>
          <a:prstGeom prst="rect">
            <a:avLst/>
          </a:prstGeom>
          <a:noFill/>
          <a:ln/>
        </p:spPr>
        <p:txBody>
          <a:bodyPr wrap="square" lIns="0" tIns="0" rIns="0" bIns="0" rtlCol="0" anchor="ctr"/>
          <a:lstStyle/>
          <a:p>
            <a:pPr algn="l" indent="0" marL="0">
              <a:buNone/>
            </a:pPr>
            <a:r>
              <a:rPr lang="en-US" sz="1100" dirty="0">
                <a:solidFill>
                  <a:schemeClr val="tx1"/>
                </a:solidFill>
              </a:rPr>
              <a:t>8 Extras (optional)</a:t>
            </a:r>
            <a:endParaRPr lang="en-US" sz="1100" dirty="0"/>
          </a:p>
        </p:txBody>
      </p:sp>
      <p:sp>
        <p:nvSpPr>
          <p:cNvPr id="31" name="node-202"/>
          <p:cNvSpPr txBox="1"/>
          <p:nvPr/>
        </p:nvSpPr>
        <p:spPr>
          <a:xfrm>
            <a:off x="5227320" y="3776472"/>
            <a:ext cx="259080" cy="219456"/>
          </a:xfrm>
          <a:prstGeom prst="roundRect">
            <a:avLst>
              <a:gd name="adj" fmla="val 20833"/>
            </a:avLst>
          </a:prstGeom>
          <a:solidFill>
            <a:schemeClr val="accent6"/>
          </a:solidFill>
          <a:ln/>
        </p:spPr>
        <p:txBody>
          <a:bodyPr wrap="square" lIns="635" tIns="635" rIns="635" bIns="635" rtlCol="0" anchor="ctr"/>
          <a:lstStyle/>
          <a:p>
            <a:pPr algn="ctr" indent="0" marL="0">
              <a:buNone/>
            </a:pPr>
            <a:endParaRPr lang="en-US" sz="1200" dirty="0"/>
          </a:p>
        </p:txBody>
      </p:sp>
      <p:sp>
        <p:nvSpPr>
          <p:cNvPr id="32" name="node-203"/>
          <p:cNvSpPr txBox="1"/>
          <p:nvPr/>
        </p:nvSpPr>
        <p:spPr>
          <a:xfrm>
            <a:off x="457200" y="4151376"/>
            <a:ext cx="128016" cy="128016"/>
          </a:xfrm>
          <a:prstGeom prst="rect">
            <a:avLst/>
          </a:prstGeom>
          <a:solidFill>
            <a:schemeClr val="accent1"/>
          </a:solidFill>
          <a:ln/>
        </p:spPr>
        <p:txBody>
          <a:bodyPr wrap="square" lIns="635" tIns="635" rIns="635" bIns="635" rtlCol="0" anchor="ctr"/>
          <a:lstStyle/>
          <a:p>
            <a:pPr algn="ctr" indent="0" marL="0">
              <a:buNone/>
            </a:pPr>
            <a:endParaRPr lang="en-US" sz="1200" dirty="0"/>
          </a:p>
        </p:txBody>
      </p:sp>
      <p:sp>
        <p:nvSpPr>
          <p:cNvPr id="33" name="text-204"/>
          <p:cNvSpPr txBox="1"/>
          <p:nvPr/>
        </p:nvSpPr>
        <p:spPr>
          <a:xfrm>
            <a:off x="640080" y="4114800"/>
            <a:ext cx="548640" cy="201168"/>
          </a:xfrm>
          <a:prstGeom prst="rect">
            <a:avLst/>
          </a:prstGeom>
          <a:noFill/>
          <a:ln/>
        </p:spPr>
        <p:txBody>
          <a:bodyPr wrap="square" lIns="0" tIns="0" rIns="0" bIns="0" rtlCol="0" anchor="t"/>
          <a:lstStyle/>
          <a:p>
            <a:pPr algn="l" indent="0" marL="0">
              <a:buNone/>
            </a:pPr>
            <a:r>
              <a:rPr lang="en-US" sz="1000" dirty="0">
                <a:solidFill>
                  <a:schemeClr val="tx1"/>
                </a:solidFill>
              </a:rPr>
              <a:t>Core</a:t>
            </a:r>
            <a:endParaRPr lang="en-US" sz="1000" dirty="0"/>
          </a:p>
        </p:txBody>
      </p:sp>
      <p:sp>
        <p:nvSpPr>
          <p:cNvPr id="34" name="node-205"/>
          <p:cNvSpPr txBox="1"/>
          <p:nvPr/>
        </p:nvSpPr>
        <p:spPr>
          <a:xfrm>
            <a:off x="1188720" y="4151376"/>
            <a:ext cx="128016" cy="128016"/>
          </a:xfrm>
          <a:prstGeom prst="rect">
            <a:avLst/>
          </a:prstGeom>
          <a:solidFill>
            <a:schemeClr val="accent4"/>
          </a:solidFill>
          <a:ln/>
        </p:spPr>
        <p:txBody>
          <a:bodyPr wrap="square" lIns="635" tIns="635" rIns="635" bIns="635" rtlCol="0" anchor="ctr"/>
          <a:lstStyle/>
          <a:p>
            <a:pPr algn="ctr" indent="0" marL="0">
              <a:buNone/>
            </a:pPr>
            <a:endParaRPr lang="en-US" sz="1200" dirty="0"/>
          </a:p>
        </p:txBody>
      </p:sp>
      <p:sp>
        <p:nvSpPr>
          <p:cNvPr id="35" name="text-206"/>
          <p:cNvSpPr txBox="1"/>
          <p:nvPr/>
        </p:nvSpPr>
        <p:spPr>
          <a:xfrm>
            <a:off x="1371600" y="4114800"/>
            <a:ext cx="1097280" cy="201168"/>
          </a:xfrm>
          <a:prstGeom prst="rect">
            <a:avLst/>
          </a:prstGeom>
          <a:noFill/>
          <a:ln/>
        </p:spPr>
        <p:txBody>
          <a:bodyPr wrap="square" lIns="0" tIns="0" rIns="0" bIns="0" rtlCol="0" anchor="t"/>
          <a:lstStyle/>
          <a:p>
            <a:pPr algn="l" indent="0" marL="0">
              <a:buNone/>
            </a:pPr>
            <a:r>
              <a:rPr lang="en-US" sz="1000" dirty="0">
                <a:solidFill>
                  <a:schemeClr val="tx1"/>
                </a:solidFill>
              </a:rPr>
              <a:t>Needed for demo</a:t>
            </a:r>
            <a:endParaRPr lang="en-US" sz="1000" dirty="0"/>
          </a:p>
        </p:txBody>
      </p:sp>
      <p:sp>
        <p:nvSpPr>
          <p:cNvPr id="36" name="node-207"/>
          <p:cNvSpPr txBox="1"/>
          <p:nvPr/>
        </p:nvSpPr>
        <p:spPr>
          <a:xfrm>
            <a:off x="2560320" y="4151376"/>
            <a:ext cx="128016" cy="128016"/>
          </a:xfrm>
          <a:prstGeom prst="rect">
            <a:avLst/>
          </a:prstGeom>
          <a:solidFill>
            <a:schemeClr val="accent6"/>
          </a:solidFill>
          <a:ln/>
        </p:spPr>
        <p:txBody>
          <a:bodyPr wrap="square" lIns="635" tIns="635" rIns="635" bIns="635" rtlCol="0" anchor="ctr"/>
          <a:lstStyle/>
          <a:p>
            <a:pPr algn="ctr" indent="0" marL="0">
              <a:buNone/>
            </a:pPr>
            <a:endParaRPr lang="en-US" sz="1200" dirty="0"/>
          </a:p>
        </p:txBody>
      </p:sp>
      <p:sp>
        <p:nvSpPr>
          <p:cNvPr id="37" name="text-208"/>
          <p:cNvSpPr txBox="1"/>
          <p:nvPr/>
        </p:nvSpPr>
        <p:spPr>
          <a:xfrm>
            <a:off x="2743200" y="4114800"/>
            <a:ext cx="731520" cy="201168"/>
          </a:xfrm>
          <a:prstGeom prst="rect">
            <a:avLst/>
          </a:prstGeom>
          <a:noFill/>
          <a:ln/>
        </p:spPr>
        <p:txBody>
          <a:bodyPr wrap="square" lIns="0" tIns="0" rIns="0" bIns="0" rtlCol="0" anchor="t"/>
          <a:lstStyle/>
          <a:p>
            <a:pPr algn="l" indent="0" marL="0">
              <a:buNone/>
            </a:pPr>
            <a:r>
              <a:rPr lang="en-US" sz="1000" dirty="0">
                <a:solidFill>
                  <a:schemeClr val="tx1"/>
                </a:solidFill>
              </a:rPr>
              <a:t>Optional</a:t>
            </a:r>
            <a:endParaRPr lang="en-US" sz="1000" dirty="0"/>
          </a:p>
        </p:txBody>
      </p:sp>
      <p:sp>
        <p:nvSpPr>
          <p:cNvPr id="38" name="text-209"/>
          <p:cNvSpPr txBox="1"/>
          <p:nvPr/>
        </p:nvSpPr>
        <p:spPr>
          <a:xfrm>
            <a:off x="5943600" y="960120"/>
            <a:ext cx="2743200" cy="256032"/>
          </a:xfrm>
          <a:prstGeom prst="rect">
            <a:avLst/>
          </a:prstGeom>
          <a:noFill/>
          <a:ln/>
        </p:spPr>
        <p:txBody>
          <a:bodyPr wrap="square" lIns="0" tIns="0" rIns="0" bIns="0" rtlCol="0" anchor="t"/>
          <a:lstStyle/>
          <a:p>
            <a:pPr algn="l" indent="0" marL="0">
              <a:buNone/>
            </a:pPr>
            <a:r>
              <a:rPr lang="en-US" sz="1300" b="1" dirty="0">
                <a:solidFill>
                  <a:schemeClr val="tx2"/>
                </a:solidFill>
              </a:rPr>
              <a:t>After the hackathon</a:t>
            </a:r>
            <a:endParaRPr lang="en-US" sz="1300" dirty="0"/>
          </a:p>
        </p:txBody>
      </p:sp>
      <p:sp>
        <p:nvSpPr>
          <p:cNvPr id="39" name="node-210"/>
          <p:cNvSpPr txBox="1"/>
          <p:nvPr/>
        </p:nvSpPr>
        <p:spPr>
          <a:xfrm>
            <a:off x="5943600" y="1325880"/>
            <a:ext cx="2743200" cy="731520"/>
          </a:xfrm>
          <a:prstGeom prst="roundRect">
            <a:avLst>
              <a:gd name="adj" fmla="val 10000"/>
            </a:avLst>
          </a:prstGeom>
          <a:solidFill>
            <a:schemeClr val="bg2"/>
          </a:solidFill>
          <a:ln/>
        </p:spPr>
        <p:txBody>
          <a:bodyPr wrap="square" lIns="635" tIns="635" rIns="635" bIns="635" rtlCol="0" anchor="ctr"/>
          <a:lstStyle/>
          <a:p>
            <a:pPr algn="ctr" indent="0" marL="0">
              <a:buNone/>
            </a:pPr>
            <a:endParaRPr lang="en-US" sz="1200" dirty="0"/>
          </a:p>
        </p:txBody>
      </p:sp>
      <p:sp>
        <p:nvSpPr>
          <p:cNvPr id="40" name="node-211"/>
          <p:cNvSpPr txBox="1"/>
          <p:nvPr/>
        </p:nvSpPr>
        <p:spPr>
          <a:xfrm>
            <a:off x="6103620" y="148590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41" name="text-212"/>
          <p:cNvSpPr txBox="1"/>
          <p:nvPr/>
        </p:nvSpPr>
        <p:spPr>
          <a:xfrm>
            <a:off x="6675120" y="1380744"/>
            <a:ext cx="1920240" cy="237744"/>
          </a:xfrm>
          <a:prstGeom prst="rect">
            <a:avLst/>
          </a:prstGeom>
          <a:noFill/>
          <a:ln/>
        </p:spPr>
        <p:txBody>
          <a:bodyPr wrap="square" lIns="0" tIns="0" rIns="0" bIns="0" rtlCol="0" anchor="t"/>
          <a:lstStyle/>
          <a:p>
            <a:pPr algn="l" indent="0" marL="0">
              <a:buNone/>
            </a:pPr>
            <a:r>
              <a:rPr lang="en-US" sz="1400" b="1" dirty="0">
                <a:solidFill>
                  <a:schemeClr val="tx1"/>
                </a:solidFill>
              </a:rPr>
              <a:t>Replay</a:t>
            </a:r>
            <a:endParaRPr lang="en-US" sz="1400" dirty="0"/>
          </a:p>
        </p:txBody>
      </p:sp>
      <p:sp>
        <p:nvSpPr>
          <p:cNvPr id="42" name="text-213"/>
          <p:cNvSpPr txBox="1"/>
          <p:nvPr/>
        </p:nvSpPr>
        <p:spPr>
          <a:xfrm>
            <a:off x="6675120" y="1636776"/>
            <a:ext cx="1920240" cy="384048"/>
          </a:xfrm>
          <a:prstGeom prst="rect">
            <a:avLst/>
          </a:prstGeom>
          <a:noFill/>
          <a:ln/>
        </p:spPr>
        <p:txBody>
          <a:bodyPr wrap="square" lIns="0" tIns="0" rIns="0" bIns="0" rtlCol="0" anchor="t"/>
          <a:lstStyle/>
          <a:p>
            <a:pPr algn="l" indent="0" marL="0">
              <a:buNone/>
            </a:pPr>
            <a:r>
              <a:rPr lang="en-US" sz="1100" dirty="0">
                <a:solidFill>
                  <a:schemeClr val="tx1"/>
                </a:solidFill>
              </a:rPr>
              <a:t>Test on saved traffic data</a:t>
            </a:r>
            <a:endParaRPr lang="en-US" sz="1100" dirty="0"/>
          </a:p>
        </p:txBody>
      </p:sp>
      <p:sp>
        <p:nvSpPr>
          <p:cNvPr id="43" name="line-214"/>
          <p:cNvSpPr/>
          <p:nvPr/>
        </p:nvSpPr>
        <p:spPr>
          <a:xfrm>
            <a:off x="7315200" y="2057400"/>
            <a:ext cx="0" cy="182880"/>
          </a:xfrm>
          <a:prstGeom prst="line">
            <a:avLst/>
          </a:prstGeom>
          <a:noFill/>
          <a:ln w="19050">
            <a:solidFill>
              <a:schemeClr val="tx1"/>
            </a:solidFill>
            <a:prstDash val="solid"/>
            <a:tailEnd type="triangle"/>
          </a:ln>
        </p:spPr>
      </p:sp>
      <p:sp>
        <p:nvSpPr>
          <p:cNvPr id="44" name="node-215"/>
          <p:cNvSpPr txBox="1"/>
          <p:nvPr/>
        </p:nvSpPr>
        <p:spPr>
          <a:xfrm>
            <a:off x="5943600" y="2240280"/>
            <a:ext cx="2743200" cy="731520"/>
          </a:xfrm>
          <a:prstGeom prst="roundRect">
            <a:avLst>
              <a:gd name="adj" fmla="val 10000"/>
            </a:avLst>
          </a:prstGeom>
          <a:solidFill>
            <a:schemeClr val="bg2"/>
          </a:solidFill>
          <a:ln/>
        </p:spPr>
        <p:txBody>
          <a:bodyPr wrap="square" lIns="635" tIns="635" rIns="635" bIns="635" rtlCol="0" anchor="ctr"/>
          <a:lstStyle/>
          <a:p>
            <a:pPr algn="ctr" indent="0" marL="0">
              <a:buNone/>
            </a:pPr>
            <a:endParaRPr lang="en-US" sz="1200" dirty="0"/>
          </a:p>
        </p:txBody>
      </p:sp>
      <p:sp>
        <p:nvSpPr>
          <p:cNvPr id="45" name="node-216"/>
          <p:cNvSpPr txBox="1"/>
          <p:nvPr/>
        </p:nvSpPr>
        <p:spPr>
          <a:xfrm>
            <a:off x="6103620" y="240030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46" name="text-217"/>
          <p:cNvSpPr txBox="1"/>
          <p:nvPr/>
        </p:nvSpPr>
        <p:spPr>
          <a:xfrm>
            <a:off x="6675120" y="2295144"/>
            <a:ext cx="1920240" cy="237744"/>
          </a:xfrm>
          <a:prstGeom prst="rect">
            <a:avLst/>
          </a:prstGeom>
          <a:noFill/>
          <a:ln/>
        </p:spPr>
        <p:txBody>
          <a:bodyPr wrap="square" lIns="0" tIns="0" rIns="0" bIns="0" rtlCol="0" anchor="t"/>
          <a:lstStyle/>
          <a:p>
            <a:pPr algn="l" indent="0" marL="0">
              <a:buNone/>
            </a:pPr>
            <a:r>
              <a:rPr lang="en-US" sz="1400" b="1" dirty="0">
                <a:solidFill>
                  <a:schemeClr val="tx1"/>
                </a:solidFill>
              </a:rPr>
              <a:t>Shadow pilot</a:t>
            </a:r>
            <a:endParaRPr lang="en-US" sz="1400" dirty="0"/>
          </a:p>
        </p:txBody>
      </p:sp>
      <p:sp>
        <p:nvSpPr>
          <p:cNvPr id="47" name="text-218"/>
          <p:cNvSpPr txBox="1"/>
          <p:nvPr/>
        </p:nvSpPr>
        <p:spPr>
          <a:xfrm>
            <a:off x="6675120" y="2551176"/>
            <a:ext cx="1920240" cy="384048"/>
          </a:xfrm>
          <a:prstGeom prst="rect">
            <a:avLst/>
          </a:prstGeom>
          <a:noFill/>
          <a:ln/>
        </p:spPr>
        <p:txBody>
          <a:bodyPr wrap="square" lIns="0" tIns="0" rIns="0" bIns="0" rtlCol="0" anchor="t"/>
          <a:lstStyle/>
          <a:p>
            <a:pPr algn="l" indent="0" marL="0">
              <a:buNone/>
            </a:pPr>
            <a:r>
              <a:rPr lang="en-US" sz="1100" dirty="0">
                <a:solidFill>
                  <a:schemeClr val="tx1"/>
                </a:solidFill>
              </a:rPr>
              <a:t>Predict only, on one corridor of 5–8 junctions</a:t>
            </a:r>
            <a:endParaRPr lang="en-US" sz="1100" dirty="0"/>
          </a:p>
        </p:txBody>
      </p:sp>
      <p:sp>
        <p:nvSpPr>
          <p:cNvPr id="48" name="line-219"/>
          <p:cNvSpPr/>
          <p:nvPr/>
        </p:nvSpPr>
        <p:spPr>
          <a:xfrm>
            <a:off x="7315200" y="2971800"/>
            <a:ext cx="0" cy="182880"/>
          </a:xfrm>
          <a:prstGeom prst="line">
            <a:avLst/>
          </a:prstGeom>
          <a:noFill/>
          <a:ln w="19050">
            <a:solidFill>
              <a:schemeClr val="tx1"/>
            </a:solidFill>
            <a:prstDash val="solid"/>
            <a:tailEnd type="triangle"/>
          </a:ln>
        </p:spPr>
      </p:sp>
      <p:sp>
        <p:nvSpPr>
          <p:cNvPr id="49" name="node-220"/>
          <p:cNvSpPr txBox="1"/>
          <p:nvPr/>
        </p:nvSpPr>
        <p:spPr>
          <a:xfrm>
            <a:off x="5943600" y="3154680"/>
            <a:ext cx="2743200" cy="731520"/>
          </a:xfrm>
          <a:prstGeom prst="roundRect">
            <a:avLst>
              <a:gd name="adj" fmla="val 10000"/>
            </a:avLst>
          </a:prstGeom>
          <a:solidFill>
            <a:schemeClr val="bg2"/>
          </a:solidFill>
          <a:ln/>
        </p:spPr>
        <p:txBody>
          <a:bodyPr wrap="square" lIns="635" tIns="635" rIns="635" bIns="635" rtlCol="0" anchor="ctr"/>
          <a:lstStyle/>
          <a:p>
            <a:pPr algn="ctr" indent="0" marL="0">
              <a:buNone/>
            </a:pPr>
            <a:endParaRPr lang="en-US" sz="1200" dirty="0"/>
          </a:p>
        </p:txBody>
      </p:sp>
      <p:sp>
        <p:nvSpPr>
          <p:cNvPr id="50" name="node-221"/>
          <p:cNvSpPr txBox="1"/>
          <p:nvPr/>
        </p:nvSpPr>
        <p:spPr>
          <a:xfrm>
            <a:off x="6103620" y="3314700"/>
            <a:ext cx="411480" cy="411480"/>
          </a:xfrm>
          <a:prstGeom prst="ellipse">
            <a:avLst/>
          </a:prstGeom>
          <a:solidFill>
            <a:schemeClr val="accent3"/>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51" name="text-222"/>
          <p:cNvSpPr txBox="1"/>
          <p:nvPr/>
        </p:nvSpPr>
        <p:spPr>
          <a:xfrm>
            <a:off x="6675120" y="3209544"/>
            <a:ext cx="1920240" cy="237744"/>
          </a:xfrm>
          <a:prstGeom prst="rect">
            <a:avLst/>
          </a:prstGeom>
          <a:noFill/>
          <a:ln/>
        </p:spPr>
        <p:txBody>
          <a:bodyPr wrap="square" lIns="0" tIns="0" rIns="0" bIns="0" rtlCol="0" anchor="t"/>
          <a:lstStyle/>
          <a:p>
            <a:pPr algn="l" indent="0" marL="0">
              <a:buNone/>
            </a:pPr>
            <a:r>
              <a:rPr lang="en-US" sz="1400" b="1" dirty="0">
                <a:solidFill>
                  <a:schemeClr val="tx1"/>
                </a:solidFill>
              </a:rPr>
              <a:t>Live district</a:t>
            </a:r>
            <a:endParaRPr lang="en-US" sz="1400" dirty="0"/>
          </a:p>
        </p:txBody>
      </p:sp>
      <p:sp>
        <p:nvSpPr>
          <p:cNvPr id="52" name="text-223"/>
          <p:cNvSpPr txBox="1"/>
          <p:nvPr/>
        </p:nvSpPr>
        <p:spPr>
          <a:xfrm>
            <a:off x="6675120" y="3465576"/>
            <a:ext cx="1920240" cy="384048"/>
          </a:xfrm>
          <a:prstGeom prst="rect">
            <a:avLst/>
          </a:prstGeom>
          <a:noFill/>
          <a:ln/>
        </p:spPr>
        <p:txBody>
          <a:bodyPr wrap="square" lIns="0" tIns="0" rIns="0" bIns="0" rtlCol="0" anchor="t"/>
          <a:lstStyle/>
          <a:p>
            <a:pPr algn="l" indent="0" marL="0">
              <a:buNone/>
            </a:pPr>
            <a:r>
              <a:rPr lang="en-US" sz="1100" dirty="0">
                <a:solidFill>
                  <a:schemeClr val="tx1"/>
                </a:solidFill>
              </a:rPr>
              <a:t>Add junctions step by step</a:t>
            </a:r>
            <a:endParaRPr lang="en-US" sz="1100" dirty="0"/>
          </a:p>
        </p:txBody>
      </p:sp>
      <p:sp>
        <p:nvSpPr>
          <p:cNvPr id="53" name="node-224"/>
          <p:cNvSpPr txBox="1"/>
          <p:nvPr/>
        </p:nvSpPr>
        <p:spPr>
          <a:xfrm>
            <a:off x="457200" y="4389120"/>
            <a:ext cx="8229600" cy="365760"/>
          </a:xfrm>
          <a:prstGeom prst="roundRect">
            <a:avLst>
              <a:gd name="adj" fmla="val 20000"/>
            </a:avLst>
          </a:prstGeom>
          <a:solidFill>
            <a:schemeClr val="accent2">
              <a:alpha val="20000"/>
            </a:schemeClr>
          </a:solidFill>
          <a:ln/>
        </p:spPr>
        <p:txBody>
          <a:bodyPr wrap="square" lIns="1270" tIns="1270" rIns="1270" bIns="1270" rtlCol="0" anchor="ctr"/>
          <a:lstStyle/>
          <a:p>
            <a:pPr algn="l" indent="0" marL="0">
              <a:buNone/>
            </a:pPr>
            <a:r>
              <a:rPr lang="en-US" sz="1100" dirty="0">
                <a:solidFill>
                  <a:schemeClr val="tx1"/>
                </a:solidFill>
              </a:rPr>
              <a:t>Known limits: local gain may not equal city-wide gain; busy junctions may dominate; savings are targets until measured.</a:t>
            </a:r>
            <a:endParaRPr lang="en-US" sz="1100" dirty="0"/>
          </a:p>
        </p:txBody>
      </p:sp>
      <p:sp>
        <p:nvSpPr>
          <p:cNvPr id="25" name="Slide Number Placeholder 0"/>
          <p:cNvSpPr>
            <a:spLocks noGrp="1"/>
          </p:cNvSpPr>
          <p:nvPr>
            <p:ph type="sldNum" sz="quarter" idx="4294967295"/>
          </p:nvPr>
        </p:nvSpPr>
        <p:spPr>
          <a:xfrm>
            <a:off x="7845552" y="4828032"/>
            <a:ext cx="658368"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header-label"/>
          <p:cNvSpPr txBox="1"/>
          <p:nvPr/>
        </p:nvSpPr>
        <p:spPr>
          <a:xfrm>
            <a:off x="2286000" y="91440"/>
            <a:ext cx="4572000" cy="228600"/>
          </a:xfrm>
          <a:prstGeom prst="rect">
            <a:avLst/>
          </a:prstGeom>
          <a:noFill/>
          <a:ln/>
        </p:spPr>
        <p:txBody>
          <a:bodyPr wrap="square" lIns="0" tIns="0" rIns="0" bIns="0" rtlCol="0" anchor="ctr"/>
          <a:lstStyle/>
          <a:p>
            <a:pPr algn="ctr" indent="0" marL="0">
              <a:buNone/>
            </a:pPr>
            <a:r>
              <a:rPr lang="en-US" sz="1000" b="1" dirty="0">
                <a:solidFill>
                  <a:schemeClr val="accent1"/>
                </a:solidFill>
              </a:rPr>
              <a:t>AIORI 3</a:t>
            </a:r>
            <a:pPr algn="ctr" indent="0" marL="0">
              <a:buNone/>
            </a:pPr>
            <a:r>
              <a:rPr lang="en-US" sz="1000" dirty="0">
                <a:solidFill>
                  <a:schemeClr val="accent1"/>
                </a:solidFill>
              </a:rPr>
              <a:t>     Bibliography</a:t>
            </a:r>
            <a:endParaRPr lang="en-US" sz="1000" dirty="0"/>
          </a:p>
        </p:txBody>
      </p:sp>
      <p:sp>
        <p:nvSpPr>
          <p:cNvPr id="3" name="Text 2"/>
          <p:cNvSpPr/>
          <p:nvPr>
            <p:ph idx="102" type="title" hasCustomPrompt="1"/>
          </p:nvPr>
        </p:nvSpPr>
        <p:spPr>
          <a:xfrm>
            <a:off x="457200" y="347472"/>
            <a:ext cx="8229600" cy="566928"/>
          </a:xfrm>
          <a:prstGeom prst="rect">
            <a:avLst/>
          </a:prstGeom>
          <a:noFill/>
          <a:ln/>
        </p:spPr>
        <p:txBody>
          <a:bodyPr wrap="square" lIns="0" tIns="0" rIns="0" bIns="0" rtlCol="0" anchor="ctr"/>
          <a:lstStyle/>
          <a:p>
            <a:pPr algn="l" indent="0" marL="0">
              <a:buNone/>
            </a:pPr>
            <a:r>
              <a:rPr lang="en-US" sz="3200" b="1" dirty="0">
                <a:solidFill>
                  <a:schemeClr val="accent1"/>
                </a:solidFill>
              </a:rPr>
              <a:t>Bibliography</a:t>
            </a:r>
            <a:endParaRPr lang="en-US" sz="3200" dirty="0"/>
          </a:p>
        </p:txBody>
      </p:sp>
      <p:sp>
        <p:nvSpPr>
          <p:cNvPr id="5" name="text-225"/>
          <p:cNvSpPr txBox="1"/>
          <p:nvPr/>
        </p:nvSpPr>
        <p:spPr>
          <a:xfrm>
            <a:off x="457200" y="1051560"/>
            <a:ext cx="8229600" cy="3566160"/>
          </a:xfrm>
          <a:prstGeom prst="rect">
            <a:avLst/>
          </a:prstGeom>
          <a:noFill/>
          <a:ln/>
        </p:spPr>
        <p:txBody>
          <a:bodyPr wrap="square" lIns="0" tIns="0" rIns="0" bIns="0" rtlCol="0" anchor="t"/>
          <a:lstStyle/>
          <a:p>
            <a:pPr algn="l" indent="0" marL="0">
              <a:spcAft>
                <a:spcPts val="700"/>
              </a:spcAft>
              <a:buNone/>
            </a:pPr>
            <a:r>
              <a:rPr lang="en-US" sz="1300" dirty="0">
                <a:solidFill>
                  <a:schemeClr val="tx1"/>
                </a:solidFill>
              </a:rPr>
              <a:t>[1] H. B. McMahan et al., “Communication-Efficient Learning of Deep Networks from Decentralized Data,” AISTATS, 2017.</a:t>
            </a:r>
            <a:endParaRPr lang="en-US" sz="1300" dirty="0"/>
          </a:p>
          <a:p>
            <a:pPr algn="l" indent="0" marL="0">
              <a:spcAft>
                <a:spcPts val="700"/>
              </a:spcAft>
              <a:buNone/>
            </a:pPr>
            <a:r>
              <a:rPr lang="en-US" sz="1300" dirty="0">
                <a:solidFill>
                  <a:schemeClr val="tx1"/>
                </a:solidFill>
              </a:rPr>
              <a:t>[2] A. F. Aji and K. Heafield, “Sparse Communication for Distributed Gradient Descent,” EMNLP, 2017.</a:t>
            </a:r>
            <a:endParaRPr lang="en-US" sz="1300" dirty="0"/>
          </a:p>
          <a:p>
            <a:pPr algn="l" indent="0" marL="0">
              <a:spcAft>
                <a:spcPts val="700"/>
              </a:spcAft>
              <a:buNone/>
            </a:pPr>
            <a:r>
              <a:rPr lang="en-US" sz="1300" dirty="0">
                <a:solidFill>
                  <a:schemeClr val="tx1"/>
                </a:solidFill>
              </a:rPr>
              <a:t>[3] S. P. Karimireddy et al., “Error Feedback Fixes SignSGD and other Gradient Compression Schemes,” ICML, 2019.</a:t>
            </a:r>
            <a:endParaRPr lang="en-US" sz="1300" dirty="0"/>
          </a:p>
          <a:p>
            <a:pPr algn="l" indent="0" marL="0">
              <a:spcAft>
                <a:spcPts val="700"/>
              </a:spcAft>
              <a:buNone/>
            </a:pPr>
            <a:r>
              <a:rPr lang="en-US" sz="1300" dirty="0">
                <a:solidFill>
                  <a:schemeClr val="tx1"/>
                </a:solidFill>
              </a:rPr>
              <a:t>[4] B. Yu, H. Yin, Z. Zhu, “Spatio-Temporal Graph Convolutional Networks: A Deep Learning Framework for Traffic Forecasting,” IJCAI, 2018.</a:t>
            </a:r>
            <a:endParaRPr lang="en-US" sz="1300" dirty="0"/>
          </a:p>
          <a:p>
            <a:pPr algn="l" indent="0" marL="0">
              <a:spcAft>
                <a:spcPts val="700"/>
              </a:spcAft>
              <a:buNone/>
            </a:pPr>
            <a:r>
              <a:rPr lang="en-US" sz="1300" dirty="0">
                <a:solidFill>
                  <a:schemeClr val="tx1"/>
                </a:solidFill>
              </a:rPr>
              <a:t>[5] Y. Li, R. Yu, C. Shahabi, Y. Liu, “Diffusion Convolutional Recurrent Neural Network: Data-Driven Traffic Forecasting,” ICLR, 2018.</a:t>
            </a:r>
            <a:endParaRPr lang="en-US" sz="1300" dirty="0"/>
          </a:p>
          <a:p>
            <a:pPr algn="l" indent="0" marL="0">
              <a:spcAft>
                <a:spcPts val="700"/>
              </a:spcAft>
              <a:buNone/>
            </a:pPr>
            <a:r>
              <a:rPr lang="en-US" sz="1300" dirty="0">
                <a:solidFill>
                  <a:schemeClr val="tx1"/>
                </a:solidFill>
              </a:rPr>
              <a:t>[6] L. Zhu, Z. Liu, S. Han, “Deep Leakage from Gradients,” NeurIPS, 2019.</a:t>
            </a:r>
            <a:endParaRPr lang="en-US" sz="1300" dirty="0"/>
          </a:p>
          <a:p>
            <a:pPr algn="l" indent="0" marL="0">
              <a:spcAft>
                <a:spcPts val="700"/>
              </a:spcAft>
              <a:buNone/>
            </a:pPr>
            <a:r>
              <a:rPr lang="en-US" sz="1300" dirty="0">
                <a:solidFill>
                  <a:schemeClr val="tx1"/>
                </a:solidFill>
              </a:rPr>
              <a:t>[7] E. Rescorla, “The Transport Layer Security (TLS) Protocol Version 1.3,” RFC 8446, 2018.</a:t>
            </a:r>
            <a:endParaRPr lang="en-US" sz="1300" dirty="0"/>
          </a:p>
          <a:p>
            <a:pPr algn="l" indent="0" marL="0">
              <a:spcAft>
                <a:spcPts val="700"/>
              </a:spcAft>
              <a:buNone/>
            </a:pPr>
            <a:r>
              <a:rPr lang="en-US" sz="1300" dirty="0">
                <a:solidFill>
                  <a:schemeClr val="tx1"/>
                </a:solidFill>
              </a:rPr>
              <a:t>[8] OASIS, “MQTT Version 5.0,” OASIS Standard, 2019.</a:t>
            </a:r>
            <a:endParaRPr lang="en-US" sz="1300" dirty="0"/>
          </a:p>
          <a:p>
            <a:pPr algn="l" indent="0" marL="0">
              <a:spcAft>
                <a:spcPts val="700"/>
              </a:spcAft>
              <a:buNone/>
            </a:pPr>
            <a:r>
              <a:rPr lang="en-US" sz="1300" dirty="0">
                <a:solidFill>
                  <a:schemeClr val="tx1"/>
                </a:solidFill>
              </a:rPr>
              <a:t>[9] C. Bormann and P. Hoffman, “Concise Binary Object Representation (CBOR),” RFC 8949, 2020.</a:t>
            </a:r>
            <a:endParaRPr lang="en-US" sz="1300" dirty="0"/>
          </a:p>
          <a:p>
            <a:pPr algn="l" indent="0" marL="0">
              <a:spcAft>
                <a:spcPts val="700"/>
              </a:spcAft>
              <a:buNone/>
            </a:pPr>
            <a:r>
              <a:rPr lang="en-US" sz="1300" dirty="0">
                <a:solidFill>
                  <a:schemeClr val="tx1"/>
                </a:solidFill>
              </a:rPr>
              <a:t>[10] Caltrans, “Performance Measurement System (PeMS),” pems.dot.ca.gov.</a:t>
            </a:r>
            <a:endParaRPr lang="en-US" sz="1300" dirty="0"/>
          </a:p>
        </p:txBody>
      </p:sp>
      <p:sp>
        <p:nvSpPr>
          <p:cNvPr id="25" name="Slide Number Placeholder 0"/>
          <p:cNvSpPr>
            <a:spLocks noGrp="1"/>
          </p:cNvSpPr>
          <p:nvPr>
            <p:ph type="sldNum" sz="quarter" idx="4294967295"/>
          </p:nvPr>
        </p:nvSpPr>
        <p:spPr>
          <a:xfrm>
            <a:off x="7845552" y="4828032"/>
            <a:ext cx="658368"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Aerial view of a city intersection with glowing network lines">    </p:cNvPr>
          <p:cNvPicPr>
            <a:picLocks noChangeAspect="1"/>
          </p:cNvPicPr>
          <p:nvPr/>
        </p:nvPicPr>
        <p:blipFill>
          <a:blip r:embed="rId1"/>
          <a:stretch>
            <a:fillRect/>
          </a:stretch>
        </p:blipFill>
        <p:spPr>
          <a:xfrm>
            <a:off x="5486400" y="0"/>
            <a:ext cx="3657600" cy="5143500"/>
          </a:xfrm>
          <a:prstGeom prst="rect">
            <a:avLst/>
          </a:prstGeom>
        </p:spPr>
      </p:pic>
      <p:pic>
        <p:nvPicPr>
          <p:cNvPr id="3" name="Image 1" descr="AIORI logo">    </p:cNvPr>
          <p:cNvPicPr>
            <a:picLocks noChangeAspect="1"/>
          </p:cNvPicPr>
          <p:nvPr/>
        </p:nvPicPr>
        <p:blipFill>
          <a:blip r:embed="rId2"/>
          <a:stretch>
            <a:fillRect/>
          </a:stretch>
        </p:blipFill>
        <p:spPr>
          <a:xfrm>
            <a:off x="457200" y="411480"/>
            <a:ext cx="868680" cy="859536"/>
          </a:xfrm>
          <a:prstGeom prst="rect">
            <a:avLst/>
          </a:prstGeom>
        </p:spPr>
      </p:pic>
      <p:sp>
        <p:nvSpPr>
          <p:cNvPr id="4" name="text-226"/>
          <p:cNvSpPr txBox="1"/>
          <p:nvPr/>
        </p:nvSpPr>
        <p:spPr>
          <a:xfrm>
            <a:off x="457200" y="1737360"/>
            <a:ext cx="4754880" cy="1188720"/>
          </a:xfrm>
          <a:prstGeom prst="rect">
            <a:avLst/>
          </a:prstGeom>
          <a:noFill/>
          <a:ln/>
        </p:spPr>
        <p:txBody>
          <a:bodyPr wrap="square" lIns="0" tIns="0" rIns="0" bIns="0" rtlCol="0" anchor="ctr"/>
          <a:lstStyle/>
          <a:p>
            <a:pPr algn="l" indent="0" marL="0">
              <a:buNone/>
            </a:pPr>
            <a:r>
              <a:rPr lang="en-US" sz="3600" b="1" dirty="0">
                <a:solidFill>
                  <a:schemeClr val="accent1"/>
                </a:solidFill>
              </a:rPr>
              <a:t>Thank You for Your Attention!</a:t>
            </a:r>
            <a:endParaRPr lang="en-US" sz="3600" dirty="0"/>
          </a:p>
        </p:txBody>
      </p:sp>
      <p:sp>
        <p:nvSpPr>
          <p:cNvPr id="5" name="text-227"/>
          <p:cNvSpPr txBox="1"/>
          <p:nvPr/>
        </p:nvSpPr>
        <p:spPr>
          <a:xfrm>
            <a:off x="457200" y="3108960"/>
            <a:ext cx="4754880" cy="365760"/>
          </a:xfrm>
          <a:prstGeom prst="rect">
            <a:avLst/>
          </a:prstGeom>
          <a:noFill/>
          <a:ln/>
        </p:spPr>
        <p:txBody>
          <a:bodyPr wrap="square" lIns="0" tIns="0" rIns="0" bIns="0" rtlCol="0" anchor="t"/>
          <a:lstStyle/>
          <a:p>
            <a:pPr algn="l" indent="0" marL="0">
              <a:buNone/>
            </a:pPr>
            <a:r>
              <a:rPr lang="en-US" sz="1800" dirty="0">
                <a:solidFill>
                  <a:schemeClr val="tx2"/>
                </a:solidFill>
              </a:rPr>
              <a:t>CityPulse-Audit: send only what helps.</a:t>
            </a:r>
            <a:endParaRPr lang="en-US" sz="1800" dirty="0"/>
          </a:p>
        </p:txBody>
      </p:sp>
      <p:sp>
        <p:nvSpPr>
          <p:cNvPr id="6" name="text-228"/>
          <p:cNvSpPr txBox="1"/>
          <p:nvPr/>
        </p:nvSpPr>
        <p:spPr>
          <a:xfrm>
            <a:off x="457200" y="3657600"/>
            <a:ext cx="4754880" cy="320040"/>
          </a:xfrm>
          <a:prstGeom prst="rect">
            <a:avLst/>
          </a:prstGeom>
          <a:noFill/>
          <a:ln/>
        </p:spPr>
        <p:txBody>
          <a:bodyPr wrap="square" lIns="0" tIns="0" rIns="0" bIns="0" rtlCol="0" anchor="t"/>
          <a:lstStyle/>
          <a:p>
            <a:pPr algn="l" indent="0" marL="0">
              <a:buNone/>
            </a:pPr>
            <a:r>
              <a:rPr lang="en-US" sz="1400" b="1" dirty="0">
                <a:solidFill>
                  <a:schemeClr val="tx1"/>
                </a:solidFill>
              </a:rPr>
              <a:t>Team Solve X  •  omabhinav4@gmail.com</a:t>
            </a:r>
            <a:endParaRPr lang="en-US" sz="1400" dirty="0"/>
          </a:p>
        </p:txBody>
      </p:sp>
    </p:spTree>
  </p:cSld>
  <p:clrMapOvr>
    <a:masterClrMapping/>
  </p:clrMapOvr>
</p:sld>
</file>

<file path=ppt/theme/theme1.xml><?xml version="1.0" encoding="utf-8"?>
<a:theme xmlns:a="http://schemas.openxmlformats.org/drawingml/2006/main" name="CityPulse AIORI">
  <a:themeElements>
    <a:clrScheme name="CityPulse AIORI">
      <a:dk1>
        <a:srgbClr val="1A1F3A"/>
      </a:dk1>
      <a:lt1>
        <a:srgbClr val="FFFFFF"/>
      </a:lt1>
      <a:dk2>
        <a:srgbClr val="0B1366"/>
      </a:dk2>
      <a:lt2>
        <a:srgbClr val="EEF1FF"/>
      </a:lt2>
      <a:accent1>
        <a:srgbClr val="1020C8"/>
      </a:accent1>
      <a:accent2>
        <a:srgbClr val="D96A00"/>
      </a:accent2>
      <a:accent3>
        <a:srgbClr val="138808"/>
      </a:accent3>
      <a:accent4>
        <a:srgbClr val="00798F"/>
      </a:accent4>
      <a:accent5>
        <a:srgbClr val="C0392B"/>
      </a:accent5>
      <a:accent6>
        <a:srgbClr val="6B7194"/>
      </a:accent6>
      <a:hlink>
        <a:srgbClr val="1020C8"/>
      </a:hlink>
      <a:folHlink>
        <a:srgbClr val="6B7194"/>
      </a:folHlink>
    </a:clrScheme>
    <a:fontScheme name="CityPulse AIOR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PS-003 CityPulse-Audit</dc:title>
  <dc:subject>PptxGenJS Presentation</dc:subject>
  <dc:creator>Team</dc:creator>
  <cp:lastModifiedBy>Team</cp:lastModifiedBy>
  <cp:revision>1</cp:revision>
  <dcterms:created xsi:type="dcterms:W3CDTF">2026-10-15T06:27:32Z</dcterms:created>
  <dcterms:modified xsi:type="dcterms:W3CDTF">2026-10-15T06:27:32Z</dcterms:modified>
</cp:coreProperties>
</file>